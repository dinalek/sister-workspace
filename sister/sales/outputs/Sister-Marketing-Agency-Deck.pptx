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c1cd365f1c497a" /><Relationship Type="http://schemas.openxmlformats.org/officeDocument/2006/relationships/extended-properties" Target="/docProps/app.xml" Id="R42f25c45820a4e68" /><Relationship Type="http://schemas.openxmlformats.org/officeDocument/2006/relationships/officeDocument" Target="/ppt/presentation.xml" Id="R1b5c978178654d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36cf58b8364fad"/>
  </p:sldMasterIdLst>
  <p:notesMasterIdLst>
    <p:notesMasterId xmlns:r="http://schemas.openxmlformats.org/officeDocument/2006/relationships" r:id="R4e847e215ca14aec"/>
  </p:notesMasterIdLst>
  <p:sldIdLst>
    <p:sldId xmlns:r="http://schemas.openxmlformats.org/officeDocument/2006/relationships" id="256" r:id="R7fc2c09f85704c81"/>
    <p:sldId xmlns:r="http://schemas.openxmlformats.org/officeDocument/2006/relationships" id="257" r:id="R8fa2ea775d7b42ec"/>
    <p:sldId xmlns:r="http://schemas.openxmlformats.org/officeDocument/2006/relationships" id="258" r:id="R8558b53294704d9d"/>
    <p:sldId xmlns:r="http://schemas.openxmlformats.org/officeDocument/2006/relationships" id="259" r:id="Rf273c4a364fb46da"/>
    <p:sldId xmlns:r="http://schemas.openxmlformats.org/officeDocument/2006/relationships" id="260" r:id="R108392747536441f"/>
    <p:sldId xmlns:r="http://schemas.openxmlformats.org/officeDocument/2006/relationships" id="261" r:id="R0c04116232174e96"/>
    <p:sldId xmlns:r="http://schemas.openxmlformats.org/officeDocument/2006/relationships" id="262" r:id="R59ca632f2b814e0c"/>
    <p:sldId xmlns:r="http://schemas.openxmlformats.org/officeDocument/2006/relationships" id="263" r:id="R96a8b3b33a924a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622cde2a4a4468" /><Relationship Type="http://schemas.openxmlformats.org/officeDocument/2006/relationships/slideMaster" Target="/ppt/slideMasters/slideMaster1.xml" Id="R9236cf58b8364fad" /><Relationship Type="http://schemas.openxmlformats.org/officeDocument/2006/relationships/notesMaster" Target="/ppt/notesMasters/notesMaster1.xml" Id="R4e847e215ca14aec" /><Relationship Type="http://schemas.openxmlformats.org/officeDocument/2006/relationships/presProps" Target="/ppt/presProps.xml" Id="R6f52939013c04dff" /><Relationship Type="http://schemas.openxmlformats.org/officeDocument/2006/relationships/tableStyles" Target="/ppt/tableStyles.xml" Id="R54e4745c949f4098" /><Relationship Type="http://schemas.openxmlformats.org/officeDocument/2006/relationships/slide" Target="/ppt/slides/slide1.xml" Id="R7fc2c09f85704c81" /><Relationship Type="http://schemas.openxmlformats.org/officeDocument/2006/relationships/slide" Target="/ppt/slides/slide2.xml" Id="R8fa2ea775d7b42ec" /><Relationship Type="http://schemas.openxmlformats.org/officeDocument/2006/relationships/slide" Target="/ppt/slides/slide3.xml" Id="R8558b53294704d9d" /><Relationship Type="http://schemas.openxmlformats.org/officeDocument/2006/relationships/slide" Target="/ppt/slides/slide4.xml" Id="Rf273c4a364fb46da" /><Relationship Type="http://schemas.openxmlformats.org/officeDocument/2006/relationships/slide" Target="/ppt/slides/slide5.xml" Id="R108392747536441f" /><Relationship Type="http://schemas.openxmlformats.org/officeDocument/2006/relationships/slide" Target="/ppt/slides/slide6.xml" Id="R0c04116232174e96" /><Relationship Type="http://schemas.openxmlformats.org/officeDocument/2006/relationships/slide" Target="/ppt/slides/slide7.xml" Id="R59ca632f2b814e0c" /><Relationship Type="http://schemas.openxmlformats.org/officeDocument/2006/relationships/slide" Target="/ppt/slides/slide8.xml" Id="R96a8b3b33a924a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7e382e22ed4b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5c75ba580d4c74" /><Relationship Type="http://schemas.openxmlformats.org/officeDocument/2006/relationships/notesMaster" Target="/ppt/notesMasters/notesMaster1.xml" Id="R562a0d7a5a3b45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8e0465bd5840ec" /><Relationship Type="http://schemas.openxmlformats.org/officeDocument/2006/relationships/notesMaster" Target="/ppt/notesMasters/notesMaster1.xml" Id="R6b3b06b93d1146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de47a55dac4a66" /><Relationship Type="http://schemas.openxmlformats.org/officeDocument/2006/relationships/notesMaster" Target="/ppt/notesMasters/notesMaster1.xml" Id="R8c13aa8213ae44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002b385e4340bf" /><Relationship Type="http://schemas.openxmlformats.org/officeDocument/2006/relationships/notesMaster" Target="/ppt/notesMasters/notesMaster1.xml" Id="R200d9e664cbc42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7f1d3a6f794d42" /><Relationship Type="http://schemas.openxmlformats.org/officeDocument/2006/relationships/notesMaster" Target="/ppt/notesMasters/notesMaster1.xml" Id="R5cfec2b47a2544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3b174683d64b50" /><Relationship Type="http://schemas.openxmlformats.org/officeDocument/2006/relationships/notesMaster" Target="/ppt/notesMasters/notesMaster1.xml" Id="R734243a594e543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639a6396e14750" /><Relationship Type="http://schemas.openxmlformats.org/officeDocument/2006/relationships/notesMaster" Target="/ppt/notesMasters/notesMaster1.xml" Id="R2790934dd0df46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5a2c1a35fc4a51" /><Relationship Type="http://schemas.openxmlformats.org/officeDocument/2006/relationships/notesMaster" Target="/ppt/notesMasters/notesMaster1.xml" Id="R6ac6fa6e45c844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פתיחה קצרה: המצגת היא טעימה מהדרך שבה אנחנו חושבות ועובדות.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brand assets: sister/shared/Brand book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להדגיש: אנחנו לא רק ספקיות ביצוע; אנחנו מחזיקות את התמונה המלאה.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sister/shared/brand-dna.md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המסר: התאמה אישית אינה סיסמה; היא סדר עבודה.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sister/shared/brand-dna.md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לא להקריא כרשימה. לבחור את השירותים שרלוונטיים לליד ולחבר ביניהם.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sister/shared/services.md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כאן לשאול: מה עובד היום, מה חסר, ואיפה הליד מרגיש שהשיווק נתקע.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sister/shared/services.md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להדגיש את הגיוון בין פרויקטים ואת היכולת להתאים שפה לכל מותג.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Drive asset supplied by user: banner-blend.jpg</a:t>
            </a:r>
          </a:p>
          <a:p xmlns:a="http://schemas.openxmlformats.org/drawingml/2006/main">
            <a:r>
              <a:t>- Google Drive asset supplied by user: banner-tarsat.jpg</a:t>
            </a:r>
          </a:p>
          <a:p xmlns:a="http://schemas.openxmlformats.org/drawingml/2006/main">
            <a:r>
              <a:t>- Google Drive asset supplied by user: banner-heart.jpg</a:t>
            </a:r>
          </a:p>
          <a:p xmlns:a="http://schemas.openxmlformats.org/drawingml/2006/main">
            <a:r>
              <a:t>- Google Drive asset supplied by user: banner-sharon.jpg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אפשר לפתוח את הקישורים לאחר הפגישה. במצגת עצמה נשארים ברמת הסיפור והיכולת.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https://fadlon.co.il/</a:t>
            </a:r>
          </a:p>
          <a:p xmlns:a="http://schemas.openxmlformats.org/drawingml/2006/main">
            <a:r>
              <a:t>- https://lp.olamumloa.co.il/</a:t>
            </a:r>
          </a:p>
          <a:p xmlns:a="http://schemas.openxmlformats.org/drawingml/2006/main">
            <a:r>
              <a:t>- https://www.instagram.com/shponder_fadlon/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סיום: להזמין את הלקוח לדבר על המצב שלו, לא על רשימת השירותים.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sister/shared/brand-dna.md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362f7014a47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e3b69754904c2c" /><Relationship Type="http://schemas.openxmlformats.org/officeDocument/2006/relationships/slideLayout" Target="/ppt/slideLayouts/slideLayout1.xml" Id="R504eb9a8493047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4eb9a8493047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bbd72fca54a60" /><Relationship Type="http://schemas.openxmlformats.org/officeDocument/2006/relationships/image" Target="/ppt/media/image.png" Id="Rd70e65c00180433a" /><Relationship Type="http://schemas.openxmlformats.org/officeDocument/2006/relationships/notesSlide" Target="/ppt/notesSlides/notesSlide1.xml" Id="Rcc7874ac6c5b41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c6b3235624c85" /><Relationship Type="http://schemas.openxmlformats.org/officeDocument/2006/relationships/notesSlide" Target="/ppt/notesSlides/notesSlide2.xml" Id="R475383b61b0241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099e62c614a4c" /><Relationship Type="http://schemas.openxmlformats.org/officeDocument/2006/relationships/notesSlide" Target="/ppt/notesSlides/notesSlide3.xml" Id="R5e24a783ef1945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bc7d95b544c8e" /><Relationship Type="http://schemas.openxmlformats.org/officeDocument/2006/relationships/notesSlide" Target="/ppt/notesSlides/notesSlide4.xml" Id="R4c25ef2683704b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c4e4f10a34e01" /><Relationship Type="http://schemas.openxmlformats.org/officeDocument/2006/relationships/notesSlide" Target="/ppt/notesSlides/notesSlide5.xml" Id="R04a7faf5758741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2beba59e943d1" /><Relationship Type="http://schemas.openxmlformats.org/officeDocument/2006/relationships/image" Target="/ppt/media/image.jpeg" Id="R15c250305c624994" /><Relationship Type="http://schemas.openxmlformats.org/officeDocument/2006/relationships/image" Target="/ppt/media/image2.jpeg" Id="Ra381528873ad416e" /><Relationship Type="http://schemas.openxmlformats.org/officeDocument/2006/relationships/image" Target="/ppt/media/image3.jpeg" Id="R871ea86383064c41" /><Relationship Type="http://schemas.openxmlformats.org/officeDocument/2006/relationships/image" Target="/ppt/media/image4.jpeg" Id="Rd15e89800d474482" /><Relationship Type="http://schemas.openxmlformats.org/officeDocument/2006/relationships/notesSlide" Target="/ppt/notesSlides/notesSlide6.xml" Id="R2a379a009fa243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2a60449bc4e27" /><Relationship Type="http://schemas.openxmlformats.org/officeDocument/2006/relationships/image" Target="/ppt/media/image5.jpeg" Id="R9d5d049dfbef4319" /><Relationship Type="http://schemas.openxmlformats.org/officeDocument/2006/relationships/image" Target="/ppt/media/image6.jpeg" Id="R5ac8edcd3bca4d8d" /><Relationship Type="http://schemas.openxmlformats.org/officeDocument/2006/relationships/image" Target="/ppt/media/image7.jpeg" Id="R0ef86bb2becc4648" /><Relationship Type="http://schemas.openxmlformats.org/officeDocument/2006/relationships/notesSlide" Target="/ppt/notesSlides/notesSlide7.xml" Id="R3d9fe90b2bc347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faa216ada4f32" /><Relationship Type="http://schemas.openxmlformats.org/officeDocument/2006/relationships/image" Target="/ppt/media/image2.png" Id="R6a431abe18a748ca" /><Relationship Type="http://schemas.openxmlformats.org/officeDocument/2006/relationships/notesSlide" Target="/ppt/notesSlides/notesSlide8.xml" Id="R80ce165e6eed47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029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85B69-0382-4BBE-9096-F5C66E09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3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D2FD3-9AA3-42FA-9D21-8351816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-1143000"/>
            <a:ext cx="3429000" cy="838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8B5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e65c00180433a"/>
          <a:stretch xmlns:a="http://schemas.openxmlformats.org/drawingml/2006/main"/>
        </p:blipFill>
        <p:spPr>
          <a:xfrm xmlns:a="http://schemas.openxmlformats.org/drawingml/2006/main">
            <a:off x="8453438" y="838200"/>
            <a:ext cx="1476375" cy="1476375"/>
          </a:xfrm>
          <a:prstGeom xmlns:a="http://schemas.openxmlformats.org/drawingml/2006/main" prst="roundRect">
            <a:avLst>
              <a:gd name="adj" fmla="val 7742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37BB2-A1A5-4C17-A74A-28E98647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7175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השיווק שלכם.</a:t>
            </a:r>
          </a:p>
          <a:p xmlns:a="http://schemas.openxmlformats.org/drawingml/2006/main">
            <a:pPr algn="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עם מישהי שבאמת אכפת לה.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E6F6C-D61F-4D98-A0B9-BF8A17BB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>
                    <a:alpha val="85098"/>
                  </a:srgbClr>
                </a:solidFill>
              </a:defRPr>
            </a:pPr>
            <a:r>
              <a:rPr sz="1500" b="0">
                <a:solidFill>
                  <a:srgbClr val="FFFFFF">
                    <a:alpha val="85098"/>
                  </a:srgbClr>
                </a:solidFill>
              </a:rPr>
              <a:t>סושיאל  |  קמפיינים  |  תוכן  |  דיגיטל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ABB76-3277-40D1-B8DA-A2658325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292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EVERYONE NEEDS A S!STER</a:t>
            </a:r>
          </a:p>
        </p:txBody>
      </p:sp>
    </p:spTree>
    <p:extLst>
      <p:ext uri="{BB962C8B-B14F-4D97-AF65-F5344CB8AC3E}">
        <p14:creationId xmlns:p14="http://schemas.microsoft.com/office/powerpoint/2010/main" val="405526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A736C-571A-441D-A7AC-A1ECCBA7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5D5D">
                    <a:alpha val="66667"/>
                  </a:srgbClr>
                </a:solidFill>
              </a:defRPr>
            </a:pPr>
            <a:r>
              <a:rPr sz="975" b="1">
                <a:solidFill>
                  <a:srgbClr val="695D5D">
                    <a:alpha val="66667"/>
                  </a:srgbClr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3E858-4360-4B07-A725-722BC8A4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5D5D">
                    <a:alpha val="66667"/>
                  </a:srgbClr>
                </a:solidFill>
              </a:defRPr>
            </a:pPr>
            <a:r>
              <a:rPr sz="900" b="1">
                <a:solidFill>
                  <a:srgbClr val="695D5D">
                    <a:alpha val="66667"/>
                  </a:srgbClr>
                </a:solidFill>
              </a:rPr>
              <a:t>SISTER MARKETING AGENCY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E4F68-306A-4B8A-94F0-C7F89C9E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302929"/>
                </a:solidFill>
              </a:defRPr>
            </a:pPr>
            <a:r>
              <a:rPr sz="2925" b="1">
                <a:solidFill>
                  <a:srgbClr val="302929"/>
                </a:solidFill>
              </a:rPr>
              <a:t>מאז 2013 אנחנו בתוך העסק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6F6CE-E272-4808-B9CE-47F9D18E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5D5D"/>
                </a:solidFill>
              </a:defRPr>
            </a:pPr>
            <a:r>
              <a:rPr sz="1425" b="0">
                <a:solidFill>
                  <a:srgbClr val="695D5D"/>
                </a:solidFill>
              </a:rPr>
              <a:t>לא מבחוץ, לא ליד. בתוך השאלות, ההחלטות והיום־יום.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BEB4D-F740-48BF-8F54-EB257E83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810125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4F220-E2E2-4109-9D21-031CE3E2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302929"/>
                </a:solidFill>
              </a:defRPr>
            </a:pPr>
            <a:r>
              <a:rPr sz="2100" b="1">
                <a:solidFill>
                  <a:srgbClr val="302929"/>
                </a:solidFill>
              </a:rPr>
              <a:t>אנחנו צוות של נשות מקצוע שמחברות אסטרטגיה, קריאייטיב, מדיה וטכנולוגיה למהלך שיווקי אחד.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5B6BD-47B2-406B-AC69-8C218C21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33800"/>
            <a:ext cx="400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95D5D"/>
                </a:solidFill>
              </a:defRPr>
            </a:pPr>
            <a:r>
              <a:rPr sz="1575" b="0">
                <a:solidFill>
                  <a:srgbClr val="695D5D"/>
                </a:solidFill>
              </a:rPr>
              <a:t>המטרה שלנו פשוטה: לזהות מה העסק באמת צריך, לבנות את הדרך הנכונה ולהרים דגל לפני שמשהו מתפספס.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6AA91-B748-4AE6-BB52-7536BFC2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143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03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049E3-540F-41E1-9417-A98EDD55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אחריות אישית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B65E7-2E2A-41A0-99E8-42AECF67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5143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8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02193-ECBC-4C9C-B508-B29D567D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956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שותפות אמיתית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97B04-31FA-434B-95F9-8903AF7B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48150"/>
            <a:ext cx="5143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95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6FB71-DA03-4F74-B81F-777D7C21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7197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שיווק שמרגיש אנושי</a:t>
            </a:r>
          </a:p>
        </p:txBody>
      </p:sp>
    </p:spTree>
    <p:extLst>
      <p:ext uri="{BB962C8B-B14F-4D97-AF65-F5344CB8AC3E}">
        <p14:creationId xmlns:p14="http://schemas.microsoft.com/office/powerpoint/2010/main" val="1628272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60D2C-58B3-4E68-9FFB-DB2DCA2C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5D5D">
                    <a:alpha val="66667"/>
                  </a:srgbClr>
                </a:solidFill>
              </a:defRPr>
            </a:pPr>
            <a:r>
              <a:rPr sz="975" b="1">
                <a:solidFill>
                  <a:srgbClr val="695D5D">
                    <a:alpha val="66667"/>
                  </a:srgbClr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2E217-D403-478C-A98F-BF1A4A0E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5D5D">
                    <a:alpha val="66667"/>
                  </a:srgbClr>
                </a:solidFill>
              </a:defRPr>
            </a:pPr>
            <a:r>
              <a:rPr sz="900" b="1">
                <a:solidFill>
                  <a:srgbClr val="695D5D">
                    <a:alpha val="66667"/>
                  </a:srgbClr>
                </a:solidFill>
              </a:rPr>
              <a:t>SISTER MARKETING AGENCY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4BAAF-BB82-48C8-B631-4E7F1EAB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302929"/>
                </a:solidFill>
              </a:defRPr>
            </a:pPr>
            <a:r>
              <a:rPr sz="2925" b="1">
                <a:solidFill>
                  <a:srgbClr val="302929"/>
                </a:solidFill>
              </a:rPr>
              <a:t>אותה מטרה. דרך אחרת לכל עסק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75BA6-6EAB-449F-A616-4670323B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5D5D"/>
                </a:solidFill>
              </a:defRPr>
            </a:pPr>
            <a:r>
              <a:rPr sz="1425" b="0">
                <a:solidFill>
                  <a:srgbClr val="695D5D"/>
                </a:solidFill>
              </a:rPr>
              <a:t>כי One Size Fits All לא עובד בשיווק.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E0170-EC54-4FCE-AAAE-D8208F80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394C"/>
                </a:solidFill>
              </a:defRPr>
            </a:pPr>
            <a:r>
              <a:rPr sz="2850" b="1">
                <a:solidFill>
                  <a:srgbClr val="F0394C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337E6-5DA9-4EE7-BE72-A753224A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81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302929"/>
                </a:solidFill>
              </a:defRPr>
            </a:pPr>
            <a:r>
              <a:rPr sz="1875" b="1">
                <a:solidFill>
                  <a:srgbClr val="302929"/>
                </a:solidFill>
              </a:rPr>
              <a:t>מכירות לפני רעש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0928C-B837-404B-BF1D-7B815756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00300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5D5D"/>
                </a:solidFill>
              </a:defRPr>
            </a:pPr>
            <a:r>
              <a:rPr sz="1425" b="0">
                <a:solidFill>
                  <a:srgbClr val="695D5D"/>
                </a:solidFill>
              </a:rPr>
              <a:t>מתחילות במה שהעסק צריך להשיג, ורק אז בוחרות ערוצים ותוכן.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8F68F-E203-42D3-82C7-C6AF1D41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8612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8B59"/>
                </a:solidFill>
              </a:defRPr>
            </a:pPr>
            <a:r>
              <a:rPr sz="2850" b="1">
                <a:solidFill>
                  <a:srgbClr val="F68B5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7B44D-C22F-4B2B-892D-B457EDAF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67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302929"/>
                </a:solidFill>
              </a:defRPr>
            </a:pPr>
            <a:r>
              <a:rPr sz="1875" b="1">
                <a:solidFill>
                  <a:srgbClr val="302929"/>
                </a:solidFill>
              </a:rPr>
              <a:t>קריאייטיב עם הקשר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25159-CB60-4829-A34C-F2D6D78F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86175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5D5D"/>
                </a:solidFill>
              </a:defRPr>
            </a:pPr>
            <a:r>
              <a:rPr sz="1425" b="0">
                <a:solidFill>
                  <a:srgbClr val="695D5D"/>
                </a:solidFill>
              </a:rPr>
              <a:t>כל פוסט, מודעה ודף נחיתה הם חלק מאותו סיפור.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CECA1-304E-4645-BC7E-1D21CC8D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394C"/>
                </a:solidFill>
              </a:defRPr>
            </a:pPr>
            <a:r>
              <a:rPr sz="2850" b="1">
                <a:solidFill>
                  <a:srgbClr val="F0394C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F6D09-4E9D-4224-88BE-2C9D1DDE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52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302929"/>
                </a:solidFill>
              </a:defRPr>
            </a:pPr>
            <a:r>
              <a:rPr sz="1875" b="1">
                <a:solidFill>
                  <a:srgbClr val="302929"/>
                </a:solidFill>
              </a:rPr>
              <a:t>אנשים +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9EAF1-A2A0-466E-88FB-683D3888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72050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5D5D"/>
                </a:solidFill>
              </a:defRPr>
            </a:pPr>
            <a:r>
              <a:rPr sz="1425" b="0">
                <a:solidFill>
                  <a:srgbClr val="695D5D"/>
                </a:solidFill>
              </a:rPr>
              <a:t>ידיים של אדם, קצב ועוצמה של טכנולוגיה.</a:t>
            </a:r>
          </a:p>
        </p:txBody>
      </p:sp>
    </p:spTree>
    <p:extLst>
      <p:ext uri="{BB962C8B-B14F-4D97-AF65-F5344CB8AC3E}">
        <p14:creationId xmlns:p14="http://schemas.microsoft.com/office/powerpoint/2010/main" val="763266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029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0F199-37F0-41A8-8750-CA1E2CB4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66667"/>
                  </a:srgbClr>
                </a:solidFill>
              </a:defRPr>
            </a:pPr>
            <a:r>
              <a:rPr sz="975" b="1">
                <a:solidFill>
                  <a:srgbClr val="FFFFFF">
                    <a:alpha val="66667"/>
                  </a:srgbClr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C7FB2-7204-4EE0-8278-A1304EBB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>
                    <a:alpha val="66667"/>
                  </a:srgbClr>
                </a:solidFill>
              </a:defRPr>
            </a:pPr>
            <a:r>
              <a:rPr sz="900" b="1">
                <a:solidFill>
                  <a:srgbClr val="FFFFFF">
                    <a:alpha val="66667"/>
                  </a:srgbClr>
                </a:solidFill>
              </a:rPr>
              <a:t>SISTER MARKETING AGENCY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01D57-8328-4A9D-B140-CA042723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מעטפת אחת. פחות קצוות פתוחים.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4B634-E257-49C8-930D-71E24EE2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FFFFF">
                    <a:alpha val="80000"/>
                  </a:srgbClr>
                </a:solidFill>
              </a:defRPr>
            </a:pPr>
            <a:r>
              <a:rPr sz="1425" b="0">
                <a:solidFill>
                  <a:srgbClr val="FFFFFF">
                    <a:alpha val="80000"/>
                  </a:srgbClr>
                </a:solidFill>
              </a:rPr>
              <a:t>אנחנו מחברות בין התוכן, המדיה והנכסים הדיגיטליים.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D88E4-4456-49AB-BD90-EF0573C2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10382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03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B146E-4397-43D3-921B-F2BFF292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977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ניהול סושיאל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6A332-B2D1-4C3E-8250-DFB9B932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977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>
                    <a:alpha val="83922"/>
                  </a:srgbClr>
                </a:solidFill>
              </a:defRPr>
            </a:pPr>
            <a:r>
              <a:rPr sz="1350" b="0">
                <a:solidFill>
                  <a:srgbClr val="FFFFFF">
                    <a:alpha val="83922"/>
                  </a:srgbClr>
                </a:solidFill>
              </a:rPr>
              <a:t>אסטרטגיה, תוכן, עיצוב, רילס ופרסום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CA718-CEDB-4C6F-AD74-44693D74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0382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68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15066-B113-4A11-8603-DA857572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908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ניהול קמפיינים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C40AE-7565-4034-A59D-423BA89E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9082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>
                    <a:alpha val="83922"/>
                  </a:srgbClr>
                </a:solidFill>
              </a:defRPr>
            </a:pPr>
            <a:r>
              <a:rPr sz="1350" b="0">
                <a:solidFill>
                  <a:srgbClr val="FFFFFF">
                    <a:alpha val="83922"/>
                  </a:srgbClr>
                </a:solidFill>
              </a:rPr>
              <a:t>Meta, Google, קופי, אופטימיזציה ומעקב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9FE4A-E9FF-4639-9C95-F019B0BE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0382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5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5AB74-B79D-4CAB-9CB3-908B4915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ימי צילום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0263A-6425-4F38-B369-7C6FA8DE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7187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>
                    <a:alpha val="83922"/>
                  </a:srgbClr>
                </a:solidFill>
              </a:defRPr>
            </a:pPr>
            <a:r>
              <a:rPr sz="1350" b="0">
                <a:solidFill>
                  <a:srgbClr val="FFFFFF">
                    <a:alpha val="83922"/>
                  </a:srgbClr>
                </a:solidFill>
              </a:rPr>
              <a:t>תכנון, תסריטים והפקת תוכן שוטף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BB36C-0CB0-4C38-8B56-6C1E61BC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382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5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A96BD-665D-4F03-B6E6-6B22864C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529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תוכן באמצעות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E4D02-B7E0-453E-897C-01DB5C3B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5292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>
                    <a:alpha val="83922"/>
                  </a:srgbClr>
                </a:solidFill>
              </a:defRPr>
            </a:pPr>
            <a:r>
              <a:rPr sz="1350" b="0">
                <a:solidFill>
                  <a:srgbClr val="FFFFFF">
                    <a:alpha val="83922"/>
                  </a:srgbClr>
                </a:solidFill>
              </a:rPr>
              <a:t>וידאו ותוצרים שמרחיבים את האפשרויות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D73B8-F295-4CE4-BAF4-E633F0A2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10382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5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E50A0-E430-4357-9A32-E1AB21B1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3397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דפי נחיתה ואתרים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09D94-F427-42D4-8F7D-394B4C24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3397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>
                    <a:alpha val="83922"/>
                  </a:srgbClr>
                </a:solidFill>
              </a:defRPr>
            </a:pPr>
            <a:r>
              <a:rPr sz="1350" b="0">
                <a:solidFill>
                  <a:srgbClr val="FFFFFF">
                    <a:alpha val="83922"/>
                  </a:srgbClr>
                </a:solidFill>
              </a:rPr>
              <a:t>אפיון, קופי, עיצוב ופיתוח</a:t>
            </a:r>
          </a:p>
        </p:txBody>
      </p:sp>
    </p:spTree>
    <p:extLst>
      <p:ext uri="{BB962C8B-B14F-4D97-AF65-F5344CB8AC3E}">
        <p14:creationId xmlns:p14="http://schemas.microsoft.com/office/powerpoint/2010/main" val="1575892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5FE68-1003-413B-806A-D53F16CD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5D5D">
                    <a:alpha val="66667"/>
                  </a:srgbClr>
                </a:solidFill>
              </a:defRPr>
            </a:pPr>
            <a:r>
              <a:rPr sz="975" b="1">
                <a:solidFill>
                  <a:srgbClr val="695D5D">
                    <a:alpha val="66667"/>
                  </a:srgbClr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A4CC4-1C95-4B8B-827F-73E77F4C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5D5D">
                    <a:alpha val="66667"/>
                  </a:srgbClr>
                </a:solidFill>
              </a:defRPr>
            </a:pPr>
            <a:r>
              <a:rPr sz="900" b="1">
                <a:solidFill>
                  <a:srgbClr val="695D5D">
                    <a:alpha val="66667"/>
                  </a:srgbClr>
                </a:solidFill>
              </a:rPr>
              <a:t>SISTER MARKETING AGENCY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B7C46-2576-469D-A98C-6C636B3F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302929"/>
                </a:solidFill>
              </a:defRPr>
            </a:pPr>
            <a:r>
              <a:rPr sz="2925" b="1">
                <a:solidFill>
                  <a:srgbClr val="302929"/>
                </a:solidFill>
              </a:rPr>
              <a:t>סושיאל וקמפיינים עובדים טוב יותר יחד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33D1B-868D-4810-B051-F45BE8BF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5D5D"/>
                </a:solidFill>
              </a:defRPr>
            </a:pPr>
            <a:r>
              <a:rPr sz="1425" b="0">
                <a:solidFill>
                  <a:srgbClr val="695D5D"/>
                </a:solidFill>
              </a:rPr>
              <a:t>התוכן בונה אמון. המדיה מביאה אותו לקהל הנכון.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9B0C8-2FCE-4C0C-9E91-BA681A7B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504825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21326-694B-4FC5-8AC7-3A3CE2D1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F0394C"/>
                </a:solidFill>
              </a:defRPr>
            </a:pPr>
            <a:r>
              <a:rPr sz="2325" b="1">
                <a:solidFill>
                  <a:srgbClr val="F0394C"/>
                </a:solidFill>
              </a:rPr>
              <a:t>סושיאל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640EF-0811-4B75-89D1-8432376F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95D5D"/>
                </a:solidFill>
              </a:defRPr>
            </a:pPr>
            <a:r>
              <a:rPr sz="1650" b="0">
                <a:solidFill>
                  <a:srgbClr val="695D5D"/>
                </a:solidFill>
              </a:rPr>
              <a:t>אסטרטגיית תוכן חודשית</a:t>
            </a:r>
          </a:p>
          <a:p xmlns:a="http://schemas.openxmlformats.org/drawingml/2006/main">
            <a:pPr algn="r">
              <a:defRPr sz="1650" b="0">
                <a:solidFill>
                  <a:srgbClr val="695D5D"/>
                </a:solidFill>
              </a:defRPr>
            </a:pPr>
            <a:r>
              <a:rPr sz="1650" b="0">
                <a:solidFill>
                  <a:srgbClr val="695D5D"/>
                </a:solidFill>
              </a:rPr>
              <a:t>כתיבה, עיצוב ורילס</a:t>
            </a:r>
          </a:p>
          <a:p xmlns:a="http://schemas.openxmlformats.org/drawingml/2006/main">
            <a:pPr algn="r">
              <a:defRPr sz="1650" b="0">
                <a:solidFill>
                  <a:srgbClr val="695D5D"/>
                </a:solidFill>
              </a:defRPr>
            </a:pPr>
            <a:r>
              <a:rPr sz="1650" b="0">
                <a:solidFill>
                  <a:srgbClr val="695D5D"/>
                </a:solidFill>
              </a:rPr>
              <a:t>פרסום וניהול שוטף</a:t>
            </a:r>
          </a:p>
          <a:p xmlns:a="http://schemas.openxmlformats.org/drawingml/2006/main">
            <a:pPr algn="r">
              <a:defRPr sz="1650" b="0">
                <a:solidFill>
                  <a:srgbClr val="695D5D"/>
                </a:solidFill>
              </a:defRPr>
            </a:pPr>
            <a:r>
              <a:rPr sz="1650" b="0">
                <a:solidFill>
                  <a:srgbClr val="695D5D"/>
                </a:solidFill>
              </a:rPr>
              <a:t>יום צילום לפי הצורך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8FF84-574D-4B2F-B718-12205FC4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47875"/>
            <a:ext cx="504825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D1F16-4316-4612-B08A-C5E17331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050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F68B59"/>
                </a:solidFill>
              </a:defRPr>
            </a:pPr>
            <a:r>
              <a:rPr sz="2325" b="1">
                <a:solidFill>
                  <a:srgbClr val="F68B59"/>
                </a:solidFill>
              </a:rPr>
              <a:t>קמפיינים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832CD-A8AB-4789-9872-07E99E8F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95D5D"/>
                </a:solidFill>
              </a:defRPr>
            </a:pPr>
            <a:r>
              <a:rPr sz="1650" b="0">
                <a:solidFill>
                  <a:srgbClr val="695D5D"/>
                </a:solidFill>
              </a:rPr>
              <a:t>אסטרטגיה והקמה</a:t>
            </a:r>
          </a:p>
          <a:p xmlns:a="http://schemas.openxmlformats.org/drawingml/2006/main">
            <a:pPr algn="r">
              <a:defRPr sz="1650" b="0">
                <a:solidFill>
                  <a:srgbClr val="695D5D"/>
                </a:solidFill>
              </a:defRPr>
            </a:pPr>
            <a:r>
              <a:rPr sz="1650" b="0">
                <a:solidFill>
                  <a:srgbClr val="695D5D"/>
                </a:solidFill>
              </a:rPr>
              <a:t>קופי וקריאייטיב</a:t>
            </a:r>
          </a:p>
          <a:p xmlns:a="http://schemas.openxmlformats.org/drawingml/2006/main">
            <a:pPr algn="r">
              <a:defRPr sz="1650" b="0">
                <a:solidFill>
                  <a:srgbClr val="695D5D"/>
                </a:solidFill>
              </a:defRPr>
            </a:pPr>
            <a:r>
              <a:rPr sz="1650" b="0">
                <a:solidFill>
                  <a:srgbClr val="695D5D"/>
                </a:solidFill>
              </a:rPr>
              <a:t>אופטימיזציה שוטפת</a:t>
            </a:r>
          </a:p>
          <a:p xmlns:a="http://schemas.openxmlformats.org/drawingml/2006/main">
            <a:pPr algn="r">
              <a:defRPr sz="1650" b="0">
                <a:solidFill>
                  <a:srgbClr val="695D5D"/>
                </a:solidFill>
              </a:defRPr>
            </a:pPr>
            <a:r>
              <a:rPr sz="1650" b="0">
                <a:solidFill>
                  <a:srgbClr val="695D5D"/>
                </a:solidFill>
              </a:rPr>
              <a:t>מעקב ודיווח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77C1A-BED4-4DE6-B2DE-8298B71B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90875"/>
            <a:ext cx="10668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90D30-582E-4F0E-AAA2-EFF55748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14700"/>
            <a:ext cx="647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999186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E63E4-C6FF-4E3F-9008-E4340D87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5D5D">
                    <a:alpha val="66667"/>
                  </a:srgbClr>
                </a:solidFill>
              </a:defRPr>
            </a:pPr>
            <a:r>
              <a:rPr sz="975" b="1">
                <a:solidFill>
                  <a:srgbClr val="695D5D">
                    <a:alpha val="66667"/>
                  </a:srgbClr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7EB9B-0457-4396-B96A-FABE73C3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5D5D">
                    <a:alpha val="66667"/>
                  </a:srgbClr>
                </a:solidFill>
              </a:defRPr>
            </a:pPr>
            <a:r>
              <a:rPr sz="900" b="1">
                <a:solidFill>
                  <a:srgbClr val="695D5D">
                    <a:alpha val="66667"/>
                  </a:srgbClr>
                </a:solidFill>
              </a:rPr>
              <a:t>SISTER MARKETING AGENCY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FE627-367D-4415-A3F8-C845015F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302929"/>
                </a:solidFill>
              </a:defRPr>
            </a:pPr>
            <a:r>
              <a:rPr sz="2925" b="1">
                <a:solidFill>
                  <a:srgbClr val="302929"/>
                </a:solidFill>
              </a:rPr>
              <a:t>קריאייטיב שמכבד את המותג וגם מוכר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C036D-0B3B-4BCB-A3EC-9AD9A6F6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5D5D"/>
                </a:solidFill>
              </a:defRPr>
            </a:pPr>
            <a:r>
              <a:rPr sz="1425" b="0">
                <a:solidFill>
                  <a:srgbClr val="695D5D"/>
                </a:solidFill>
              </a:rPr>
              <a:t>טעימה מעבודות קמפיין. הדוגמאות כאן מעולמות הנדל״ן.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250305c624994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952625"/>
            <a:ext cx="2381250" cy="37147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1528873ad416e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38525" y="1952625"/>
            <a:ext cx="2381250" cy="37147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ea86383064c41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952625"/>
            <a:ext cx="2381250" cy="37147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e89800d474482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5875" y="1952625"/>
            <a:ext cx="2381250" cy="37147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</p:spTree>
    <p:extLst>
      <p:ext uri="{BB962C8B-B14F-4D97-AF65-F5344CB8AC3E}">
        <p14:creationId xmlns:p14="http://schemas.microsoft.com/office/powerpoint/2010/main" val="1748008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5C757B-D621-48EE-9CD2-09E16F2F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5D5D">
                    <a:alpha val="66667"/>
                  </a:srgbClr>
                </a:solidFill>
              </a:defRPr>
            </a:pPr>
            <a:r>
              <a:rPr sz="975" b="1">
                <a:solidFill>
                  <a:srgbClr val="695D5D">
                    <a:alpha val="66667"/>
                  </a:srgbClr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50B52-957A-4743-92B8-C7E75064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5D5D">
                    <a:alpha val="66667"/>
                  </a:srgbClr>
                </a:solidFill>
              </a:defRPr>
            </a:pPr>
            <a:r>
              <a:rPr sz="900" b="1">
                <a:solidFill>
                  <a:srgbClr val="695D5D">
                    <a:alpha val="66667"/>
                  </a:srgbClr>
                </a:solidFill>
              </a:rPr>
              <a:t>SISTER MARKETING AGENCY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42617-8B9E-4E90-B6AD-71F0AC09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302929"/>
                </a:solidFill>
              </a:defRPr>
            </a:pPr>
            <a:r>
              <a:rPr sz="2925" b="1">
                <a:solidFill>
                  <a:srgbClr val="302929"/>
                </a:solidFill>
              </a:rPr>
              <a:t>מתוכן ועד נכס דיגיטלי שעובד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9154B-DBB4-4C47-A9E9-05125310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5D5D"/>
                </a:solidFill>
              </a:defRPr>
            </a:pPr>
            <a:r>
              <a:rPr sz="1425" b="0">
                <a:solidFill>
                  <a:srgbClr val="695D5D"/>
                </a:solidFill>
              </a:rPr>
              <a:t>אתרים, דפי נחיתה, מיתוג מעסיק וניהול נוכחות שוטפת.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EFFA5-65DC-4CDB-A0BE-61A1EB5A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3429000" cy="37909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d049dfbef4319"/>
          <a:srcRect xmlns:a="http://schemas.openxmlformats.org/drawingml/2006/main" l="7657" t="0" r="76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2057400"/>
            <a:ext cx="3124200" cy="2076450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2B373-F831-4B44-9B96-15DFD572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02929"/>
                </a:solidFill>
              </a:defRPr>
            </a:pPr>
            <a:r>
              <a:rPr sz="1650" b="1">
                <a:solidFill>
                  <a:srgbClr val="302929"/>
                </a:solidFill>
              </a:rPr>
              <a:t>אתר תדמית ופרויקטים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81CEC-A8C4-4C3C-A347-A6CB0077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394C"/>
                </a:solidFill>
              </a:defRPr>
            </a:pPr>
            <a:r>
              <a:rPr sz="1200" b="1">
                <a:solidFill>
                  <a:srgbClr val="F0394C"/>
                </a:solidFill>
              </a:rPr>
              <a:t>fadlon.co.il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B2B0B-9B8C-464D-BA6F-A48B902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3429000" cy="37909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8edcd3bca4d8d"/>
          <a:srcRect xmlns:a="http://schemas.openxmlformats.org/drawingml/2006/main" l="7657" t="0" r="76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9150" y="2057400"/>
            <a:ext cx="3124200" cy="2076450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16336-80E5-44DC-B18F-E5169F2A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33875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02929"/>
                </a:solidFill>
              </a:defRPr>
            </a:pPr>
            <a:r>
              <a:rPr sz="1650" b="1">
                <a:solidFill>
                  <a:srgbClr val="302929"/>
                </a:solidFill>
              </a:rPr>
              <a:t>דף נחיתה ממוקד הרשמה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5A508-637B-4690-9A97-B9D9C305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577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394C"/>
                </a:solidFill>
              </a:defRPr>
            </a:pPr>
            <a:r>
              <a:rPr sz="1200" b="1">
                <a:solidFill>
                  <a:srgbClr val="F0394C"/>
                </a:solidFill>
              </a:rPr>
              <a:t>lp.olamumloa.co.il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73FD8-3F16-4AE1-96A7-F27FCEAC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3429000" cy="37909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86bb2becc4648"/>
          <a:srcRect xmlns:a="http://schemas.openxmlformats.org/drawingml/2006/main" l="7657" t="0" r="76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0" y="2057400"/>
            <a:ext cx="3124200" cy="2076450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1ED0F-AC2A-40DE-83A3-6974D5F0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33875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02929"/>
                </a:solidFill>
              </a:defRPr>
            </a:pPr>
            <a:r>
              <a:rPr sz="1650" b="1">
                <a:solidFill>
                  <a:srgbClr val="302929"/>
                </a:solidFill>
              </a:rPr>
              <a:t>ניהול נוכחות ותוכן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7F512-0ED1-40C6-8B00-625F78E3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577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394C"/>
                </a:solidFill>
              </a:defRPr>
            </a:pPr>
            <a:r>
              <a:rPr sz="1200" b="1">
                <a:solidFill>
                  <a:srgbClr val="F0394C"/>
                </a:solidFill>
              </a:rPr>
              <a:t>@shponder_fadlon</a:t>
            </a:r>
          </a:p>
        </p:txBody>
      </p:sp>
    </p:spTree>
    <p:extLst>
      <p:ext uri="{BB962C8B-B14F-4D97-AF65-F5344CB8AC3E}">
        <p14:creationId xmlns:p14="http://schemas.microsoft.com/office/powerpoint/2010/main" val="16432925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39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31abe18a748ca"/>
          <a:stretch xmlns:a="http://schemas.openxmlformats.org/drawingml/2006/main"/>
        </p:blipFill>
        <p:spPr>
          <a:xfrm xmlns:a="http://schemas.openxmlformats.org/drawingml/2006/main">
            <a:off x="8572500" y="685800"/>
            <a:ext cx="1333500" cy="1333500"/>
          </a:xfrm>
          <a:prstGeom xmlns:a="http://schemas.openxmlformats.org/drawingml/2006/main" prst="roundRect">
            <a:avLst>
              <a:gd name="adj" fmla="val 857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D6E3F-7C11-47F6-B86E-8CFD2E5B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638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בואו נבין מה השיווק שלכם צריך עכשיו.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F9A83-2578-40C8-A3C1-356367F0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FFFFFF">
                    <a:alpha val="87843"/>
                  </a:srgbClr>
                </a:solidFill>
              </a:defRPr>
            </a:pPr>
            <a:r>
              <a:rPr sz="1725" b="0">
                <a:solidFill>
                  <a:srgbClr val="FFFFFF">
                    <a:alpha val="87843"/>
                  </a:srgbClr>
                </a:solidFill>
              </a:rPr>
              <a:t>לא חבילה מהמדף. שיחה טובה, תמונה ברורה ותוכנית שמתאימה לעסק.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3CD19-FBE0-4A4D-88A7-3644BA45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01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9465F-E887-4986-BFA2-834CBD60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קרן חיים  |  054-7529756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2FAA7-9B2A-4CEB-9621-185D9332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768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keren@sistermarketing.co.il  |  sistermarketing.co.il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ADDF0-E817-4A1D-8C9E-7FB30B54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48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EVERYONE NEEDS A S!STER</a:t>
            </a:r>
          </a:p>
        </p:txBody>
      </p:sp>
    </p:spTree>
    <p:extLst>
      <p:ext uri="{BB962C8B-B14F-4D97-AF65-F5344CB8AC3E}">
        <p14:creationId xmlns:p14="http://schemas.microsoft.com/office/powerpoint/2010/main" val="1268989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2026-08-17T12:50:23.2480000Z</dcterms:created>
  <dcterms:modified xsi:type="dcterms:W3CDTF">2026-08-17T12:50:23.2490000Z</dcterms:modified>
</coreProperties>
</file>