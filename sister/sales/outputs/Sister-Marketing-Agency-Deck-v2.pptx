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פתיחה קצרה והיכרות.</a:t>
            </a:r>
          </a:p>
          <a:p>
            <a:endParaRPr/>
          </a:p>
          <a:p>
            <a:r>
              <a:t>[Sources]</a:t>
            </a:r>
          </a:p>
          <a:p>
            <a:r>
              <a:t>- User-supplied brand refresh slide image: brand-cover-slide.png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להציג את סיסטר בפשטות, בלי רשימת סופרלטיבים.</a:t>
            </a:r>
          </a:p>
          <a:p>
            <a:endParaRPr/>
          </a:p>
          <a:p>
            <a:r>
              <a:t>[Sources]</a:t>
            </a:r>
          </a:p>
          <a:p>
            <a:r>
              <a:t>- Internal sources: brand-dna.md, voice-and-style.md</a:t>
            </a:r>
          </a:p>
          <a:p>
            <a:r>
              <a:t>- Internal asset: brand refresh/elements/S/s element2.png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זה סדר העבודה שלנו: להבין, לבנות, לנהל ולדייק.</a:t>
            </a:r>
          </a:p>
          <a:p>
            <a:endParaRPr/>
          </a:p>
          <a:p>
            <a:r>
              <a:t>[Sources]</a:t>
            </a:r>
          </a:p>
          <a:p>
            <a:r>
              <a:t>- Internal sources: brand-dna.md, voice-and-style.md</a:t>
            </a:r>
          </a:p>
          <a:p>
            <a:r>
              <a:t>- Internal assets: brand refresh/elements/glass orbs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להתעכב רק על השירותים שרלוונטיים לשיחה. אתרים ודפי נחיתה מופיעים בהמשך המצגת.</a:t>
            </a:r>
          </a:p>
          <a:p>
            <a:endParaRPr/>
          </a:p>
          <a:p>
            <a:r>
              <a:t>[Sources]</a:t>
            </a:r>
          </a:p>
          <a:p>
            <a:r>
              <a:t>- User-supplied brand refresh slide image: brand-services-slide.png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שלוש דוגמאות לסרטוני AI. במצגת מוצגים פריימים כדי לשמור על קובץ קל; הקישורים המקוריים נמצאים במקורות.</a:t>
            </a:r>
          </a:p>
          <a:p>
            <a:endParaRPr/>
          </a:p>
          <a:p>
            <a:r>
              <a:t>[Sources]</a:t>
            </a:r>
          </a:p>
          <a:p>
            <a:r>
              <a:t>- https://drive.google.com/file/d/1Q7FSet2xmuhuNIBJnDfNvUefgdF1nn4s/view</a:t>
            </a:r>
          </a:p>
          <a:p>
            <a:r>
              <a:t>- https://drive.google.com/file/d/1Gx7TybHgnShwq4otfsHC3GpXOaezDVDr/view</a:t>
            </a:r>
          </a:p>
          <a:p>
            <a:r>
              <a:t>- https://drive.google.com/file/d/1mfmqIDIDpaauvS1viwNZ7IrYc0ULpElT/view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הדוגמאות מציגות עבודה מעולמות הנדל״ן, הבריאות והלייפסטייל.</a:t>
            </a:r>
          </a:p>
          <a:p>
            <a:endParaRPr/>
          </a:p>
          <a:p>
            <a:r>
              <a:t>[Sources]</a:t>
            </a:r>
          </a:p>
          <a:p>
            <a:r>
              <a:t>- Asset supplied by user: banner-blend.jpg</a:t>
            </a:r>
          </a:p>
          <a:p>
            <a:r>
              <a:t>- Asset supplied by user: banner-tarsat.jpg</a:t>
            </a:r>
          </a:p>
          <a:p>
            <a:r>
              <a:t>- Asset supplied by user: diet-angel-webinar.jpg</a:t>
            </a:r>
          </a:p>
          <a:p>
            <a:r>
              <a:t>- Asset supplied by user: diet-angel-challenge.png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שלוש הדוגמאות מוצגות כצילומי מסך סטטיים, כך שהלקוח לא צריך לגלול בזמן הפגישה.</a:t>
            </a:r>
          </a:p>
          <a:p>
            <a:endParaRPr/>
          </a:p>
          <a:p>
            <a:r>
              <a:t>[Sources]</a:t>
            </a:r>
          </a:p>
          <a:p>
            <a:r>
              <a:t>- https://fadlon.co.il/</a:t>
            </a:r>
          </a:p>
          <a:p>
            <a:r>
              <a:t>- https://lp.olamumloa.co.il/</a:t>
            </a:r>
          </a:p>
          <a:p>
            <a:r>
              <a:t>- https://sf-group.co.il/career/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לסיים בשיחה על העסק והצרכים שלו.</a:t>
            </a:r>
          </a:p>
          <a:p>
            <a:endParaRPr/>
          </a:p>
          <a:p>
            <a:r>
              <a:t>[Sources]</a:t>
            </a:r>
          </a:p>
          <a:p>
            <a:r>
              <a:t>- Internal source: brand-dna.md</a:t>
            </a:r>
          </a:p>
          <a:p>
            <a:r>
              <a:t>- Internal asset: brand refresh/elements/S/s element2.png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מבחר לקוחות שמופיעים באתר Sister Marketing.</a:t>
            </a:r>
          </a:p>
          <a:p>
            <a:endParaRPr/>
          </a:p>
          <a:p>
            <a:r>
              <a:t>[Sources]</a:t>
            </a:r>
          </a:p>
          <a:p>
            <a:r>
              <a:t>- https://sistermarketing.co.il/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mfmqIDIDpaauvS1viwNZ7IrYc0ULpElT/view" TargetMode="External"/><Relationship Id="rId3" Type="http://schemas.openxmlformats.org/officeDocument/2006/relationships/image" Target="../media/image7.jpeg"/><Relationship Id="rId7" Type="http://schemas.openxmlformats.org/officeDocument/2006/relationships/hyperlink" Target="https://drive.google.com/file/d/1Gx7TybHgnShwq4otfsHC3GpXOaezDVDr/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rive.google.com/file/d/1Q7FSet2xmuhuNIBJnDfNvUefgdF1nn4s/view" TargetMode="Externa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1082458"/>
            <a:ext cx="12192000" cy="469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57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A47D5A80-FBD6-49DD-A096-24B069BCCB86}"/>
              </a:ext>
            </a:extLst>
          </p:cNvPr>
          <p:cNvSpPr>
            <a:spLocks noGrp="1"/>
          </p:cNvSpPr>
          <p:nvPr/>
        </p:nvSpPr>
        <p:spPr>
          <a:xfrm>
            <a:off x="5334000" y="514350"/>
            <a:ext cx="619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925" b="1">
                <a:solidFill>
                  <a:srgbClr val="474747"/>
                </a:solidFill>
              </a:defRPr>
            </a:pPr>
            <a:r>
              <a:rPr sz="2925" b="1">
                <a:solidFill>
                  <a:srgbClr val="474747"/>
                </a:solidFill>
              </a:rPr>
              <a:t>נעים להכיר, אנחנו סיסטר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E3CD06AF-DE4B-4B82-8BD6-42A9F964A4D1}"/>
              </a:ext>
            </a:extLst>
          </p:cNvPr>
          <p:cNvSpPr>
            <a:spLocks noGrp="1"/>
          </p:cNvSpPr>
          <p:nvPr/>
        </p:nvSpPr>
        <p:spPr>
          <a:xfrm>
            <a:off x="5334000" y="1133475"/>
            <a:ext cx="6191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7B7474"/>
                </a:solidFill>
              </a:defRPr>
            </a:pPr>
            <a:r>
              <a:rPr sz="1425" b="0">
                <a:solidFill>
                  <a:srgbClr val="7B7474"/>
                </a:solidFill>
              </a:rPr>
              <a:t>סוכנות שיווק דיגיטלי שנוסדה ב־2013 על ידי קרן חיים.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E5109A88-B6FD-49C4-B4C5-74A0AE293573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476375" cy="28575"/>
          </a:xfrm>
          <a:prstGeom prst="rect">
            <a:avLst/>
          </a:prstGeom>
          <a:solidFill>
            <a:srgbClr val="F40C64"/>
          </a:solidFill>
          <a:ln w="0">
            <a:noFill/>
            <a:prstDash val="solid"/>
          </a:ln>
        </p:spPr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20D5F317-9F20-412A-870E-21393FF0E13B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A59B9B"/>
                </a:solidFill>
              </a:defRPr>
            </a:pPr>
            <a:r>
              <a:rPr sz="900" b="1">
                <a:solidFill>
                  <a:srgbClr val="A59B9B"/>
                </a:solidFill>
              </a:rPr>
              <a:t>02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1107ACD2-C8AE-4F57-8641-EF75A7C475DD}"/>
              </a:ext>
            </a:extLst>
          </p:cNvPr>
          <p:cNvSpPr>
            <a:spLocks noGrp="1"/>
          </p:cNvSpPr>
          <p:nvPr/>
        </p:nvSpPr>
        <p:spPr>
          <a:xfrm>
            <a:off x="8591550" y="619125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59B9B"/>
                </a:solidFill>
              </a:defRPr>
            </a:pPr>
            <a:r>
              <a:rPr sz="825" b="1">
                <a:solidFill>
                  <a:srgbClr val="A59B9B"/>
                </a:solidFill>
              </a:rPr>
              <a:t>SISTER MARKETING AGENCY</a:t>
            </a:r>
          </a:p>
        </p:txBody>
      </p:sp>
      <p:pic>
        <p:nvPicPr>
          <p:cNvPr id="15" name="תמונה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0253" y="1619250"/>
            <a:ext cx="3686845" cy="4476750"/>
          </a:xfrm>
          <a:prstGeom prst="roundRect">
            <a:avLst>
              <a:gd name="adj" fmla="val 2791"/>
            </a:avLst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B874A816-BCFF-46F7-A9E2-44AB24E2C0D5}"/>
              </a:ext>
            </a:extLst>
          </p:cNvPr>
          <p:cNvSpPr>
            <a:spLocks noGrp="1"/>
          </p:cNvSpPr>
          <p:nvPr/>
        </p:nvSpPr>
        <p:spPr>
          <a:xfrm>
            <a:off x="5572125" y="2095500"/>
            <a:ext cx="5619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025" b="1">
                <a:solidFill>
                  <a:srgbClr val="474747"/>
                </a:solidFill>
              </a:defRPr>
            </a:pPr>
            <a:r>
              <a:rPr sz="2025" b="1">
                <a:solidFill>
                  <a:srgbClr val="474747"/>
                </a:solidFill>
              </a:rPr>
              <a:t>אנחנו מלוות עסקים שרוצים לעשות שיווק טוב, אבל לא תמיד רוצים או יכולים להחזיק את כל התחומים בתוך העסק.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F627C468-6A62-42E3-A4DB-6923890D14C7}"/>
              </a:ext>
            </a:extLst>
          </p:cNvPr>
          <p:cNvSpPr>
            <a:spLocks noGrp="1"/>
          </p:cNvSpPr>
          <p:nvPr/>
        </p:nvSpPr>
        <p:spPr>
          <a:xfrm>
            <a:off x="5572125" y="3333750"/>
            <a:ext cx="5619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75" b="0">
                <a:solidFill>
                  <a:srgbClr val="7B7474"/>
                </a:solidFill>
              </a:defRPr>
            </a:pPr>
            <a:r>
              <a:rPr sz="1575" b="0">
                <a:solidFill>
                  <a:srgbClr val="7B7474"/>
                </a:solidFill>
              </a:rPr>
              <a:t>אנחנו נכנסות לעבודה, מכירות את העסק ומחברות בין אסטרטגיה, קריאייטיב, תוכן, מדיה וטכנולוגיה. כך כל מי שעובדת על השיווק רואה את אותה התמונה.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8433904D-5487-4958-B0EE-050F488A2B82}"/>
              </a:ext>
            </a:extLst>
          </p:cNvPr>
          <p:cNvSpPr>
            <a:spLocks noGrp="1"/>
          </p:cNvSpPr>
          <p:nvPr/>
        </p:nvSpPr>
        <p:spPr>
          <a:xfrm>
            <a:off x="5572125" y="4953000"/>
            <a:ext cx="5619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00" b="1">
                <a:solidFill>
                  <a:srgbClr val="F40C64"/>
                </a:solidFill>
              </a:defRPr>
            </a:pPr>
            <a:r>
              <a:rPr sz="1500" b="1">
                <a:solidFill>
                  <a:srgbClr val="F40C64"/>
                </a:solidFill>
              </a:rPr>
              <a:t>וכשמשהו דורש תשומת לב, אנחנו אומרות. גם אם עוד לא שאלו אותנו.</a:t>
            </a:r>
          </a:p>
        </p:txBody>
      </p:sp>
    </p:spTree>
    <p:extLst>
      <p:ext uri="{BB962C8B-B14F-4D97-AF65-F5344CB8AC3E}">
        <p14:creationId xmlns:p14="http://schemas.microsoft.com/office/powerpoint/2010/main" val="1574369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16">
            <a:extLst>
              <a:ext uri="{FF2B5EF4-FFF2-40B4-BE49-F238E27FC236}">
                <a16:creationId xmlns:a16="http://schemas.microsoft.com/office/drawing/2014/main" id="{43FDBEE0-9895-4661-BADC-B8D5094F9746}"/>
              </a:ext>
            </a:extLst>
          </p:cNvPr>
          <p:cNvSpPr>
            <a:spLocks noGrp="1"/>
          </p:cNvSpPr>
          <p:nvPr/>
        </p:nvSpPr>
        <p:spPr>
          <a:xfrm>
            <a:off x="5334000" y="514350"/>
            <a:ext cx="619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925" b="1">
                <a:solidFill>
                  <a:srgbClr val="474747"/>
                </a:solidFill>
              </a:defRPr>
            </a:pPr>
            <a:r>
              <a:rPr sz="2925" b="1">
                <a:solidFill>
                  <a:srgbClr val="474747"/>
                </a:solidFill>
              </a:rPr>
              <a:t>לפני שמתחילות, אנחנו מכירות את העסק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7F89F585-9CB9-4F66-AF8A-E66E43B7CB2C}"/>
              </a:ext>
            </a:extLst>
          </p:cNvPr>
          <p:cNvSpPr>
            <a:spLocks noGrp="1"/>
          </p:cNvSpPr>
          <p:nvPr/>
        </p:nvSpPr>
        <p:spPr>
          <a:xfrm>
            <a:off x="5334000" y="1133475"/>
            <a:ext cx="6191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7B7474"/>
                </a:solidFill>
              </a:defRPr>
            </a:pPr>
            <a:r>
              <a:rPr sz="1425" b="0">
                <a:solidFill>
                  <a:srgbClr val="7B7474"/>
                </a:solidFill>
              </a:rPr>
              <a:t>מה מוכרים, למי, מה כבר עובד ומה השיווק צריך לעשות עכשיו.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7D65BA9B-D3AB-457D-8E1F-E4DF066D8ABB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476375" cy="28575"/>
          </a:xfrm>
          <a:prstGeom prst="rect">
            <a:avLst/>
          </a:prstGeom>
          <a:solidFill>
            <a:srgbClr val="F40C64"/>
          </a:solidFill>
          <a:ln w="0">
            <a:noFill/>
            <a:prstDash val="solid"/>
          </a:ln>
        </p:spPr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A4E88DD8-8E81-49DD-89BE-A1BBF7A446AE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A59B9B"/>
                </a:solidFill>
              </a:defRPr>
            </a:pPr>
            <a:r>
              <a:rPr sz="900" b="1">
                <a:solidFill>
                  <a:srgbClr val="A59B9B"/>
                </a:solidFill>
              </a:rPr>
              <a:t>03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C7A44136-330E-4648-8302-CAECC6F75104}"/>
              </a:ext>
            </a:extLst>
          </p:cNvPr>
          <p:cNvSpPr>
            <a:spLocks noGrp="1"/>
          </p:cNvSpPr>
          <p:nvPr/>
        </p:nvSpPr>
        <p:spPr>
          <a:xfrm>
            <a:off x="8591550" y="619125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59B9B"/>
                </a:solidFill>
              </a:defRPr>
            </a:pPr>
            <a:r>
              <a:rPr sz="825" b="1">
                <a:solidFill>
                  <a:srgbClr val="A59B9B"/>
                </a:solidFill>
              </a:rPr>
              <a:t>SISTER MARKETING AGENCY</a:t>
            </a:r>
          </a:p>
        </p:txBody>
      </p:sp>
      <p:pic>
        <p:nvPicPr>
          <p:cNvPr id="22" name="תמונה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76300" y="1871111"/>
            <a:ext cx="1066800" cy="1058378"/>
          </a:xfrm>
          <a:prstGeom prst="roundRect">
            <a:avLst>
              <a:gd name="adj" fmla="val 10714"/>
            </a:avLst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A1E7A95C-5998-4DF1-9F7C-734D78747B1E}"/>
              </a:ext>
            </a:extLst>
          </p:cNvPr>
          <p:cNvSpPr>
            <a:spLocks noGrp="1"/>
          </p:cNvSpPr>
          <p:nvPr/>
        </p:nvSpPr>
        <p:spPr>
          <a:xfrm>
            <a:off x="2333625" y="20193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875" b="1">
                <a:solidFill>
                  <a:srgbClr val="474747"/>
                </a:solidFill>
              </a:defRPr>
            </a:pPr>
            <a:r>
              <a:rPr sz="1875" b="1">
                <a:solidFill>
                  <a:srgbClr val="474747"/>
                </a:solidFill>
              </a:rPr>
              <a:t>מכירות את העסק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CFCE86B8-A44C-40AA-82EE-3637DEDF72FC}"/>
              </a:ext>
            </a:extLst>
          </p:cNvPr>
          <p:cNvSpPr>
            <a:spLocks noGrp="1"/>
          </p:cNvSpPr>
          <p:nvPr/>
        </p:nvSpPr>
        <p:spPr>
          <a:xfrm>
            <a:off x="5429250" y="2019300"/>
            <a:ext cx="581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7B7474"/>
                </a:solidFill>
              </a:defRPr>
            </a:pPr>
            <a:r>
              <a:rPr sz="1425" b="0">
                <a:solidFill>
                  <a:srgbClr val="7B7474"/>
                </a:solidFill>
              </a:rPr>
              <a:t>נכנסות לפרטים, שואלות שאלות ומבינות מה חשוב לקדם.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112179BA-6ADC-4C43-8170-6C77432CC81E}"/>
              </a:ext>
            </a:extLst>
          </p:cNvPr>
          <p:cNvSpPr>
            <a:spLocks noGrp="1"/>
          </p:cNvSpPr>
          <p:nvPr/>
        </p:nvSpPr>
        <p:spPr>
          <a:xfrm>
            <a:off x="2333625" y="2943225"/>
            <a:ext cx="8905875" cy="9525"/>
          </a:xfrm>
          <a:prstGeom prst="rect">
            <a:avLst/>
          </a:prstGeom>
          <a:solidFill>
            <a:srgbClr val="F9D9E2"/>
          </a:solidFill>
          <a:ln w="0">
            <a:noFill/>
            <a:prstDash val="solid"/>
          </a:ln>
        </p:spPr>
      </p:sp>
      <p:pic>
        <p:nvPicPr>
          <p:cNvPr id="26" name="תמונה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81897" y="3124200"/>
            <a:ext cx="855606" cy="1066800"/>
          </a:xfrm>
          <a:prstGeom prst="roundRect">
            <a:avLst>
              <a:gd name="adj" fmla="val 10714"/>
            </a:avLst>
          </a:prstGeom>
        </p:spPr>
      </p:pic>
      <p:sp>
        <p:nvSpPr>
          <p:cNvPr id="11" name="מלבן 10">
            <a:extLst>
              <a:ext uri="{FF2B5EF4-FFF2-40B4-BE49-F238E27FC236}">
                <a16:creationId xmlns:a16="http://schemas.microsoft.com/office/drawing/2014/main" id="{D80F84DF-0462-41F9-BE9A-AB98C9EF8746}"/>
              </a:ext>
            </a:extLst>
          </p:cNvPr>
          <p:cNvSpPr>
            <a:spLocks noGrp="1"/>
          </p:cNvSpPr>
          <p:nvPr/>
        </p:nvSpPr>
        <p:spPr>
          <a:xfrm>
            <a:off x="2333625" y="32766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875" b="1">
                <a:solidFill>
                  <a:srgbClr val="474747"/>
                </a:solidFill>
              </a:defRPr>
            </a:pPr>
            <a:r>
              <a:rPr sz="1875" b="1">
                <a:solidFill>
                  <a:srgbClr val="474747"/>
                </a:solidFill>
              </a:rPr>
              <a:t>מתכננות את העבודה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461CB11B-19D6-4D59-8D1E-E4DA138F442B}"/>
              </a:ext>
            </a:extLst>
          </p:cNvPr>
          <p:cNvSpPr>
            <a:spLocks noGrp="1"/>
          </p:cNvSpPr>
          <p:nvPr/>
        </p:nvSpPr>
        <p:spPr>
          <a:xfrm>
            <a:off x="5429250" y="3276600"/>
            <a:ext cx="581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7B7474"/>
                </a:solidFill>
              </a:defRPr>
            </a:pPr>
            <a:r>
              <a:rPr sz="1425" b="0">
                <a:solidFill>
                  <a:srgbClr val="7B7474"/>
                </a:solidFill>
              </a:rPr>
              <a:t>מחליטות מה אומרים, איפה מפרסמים ואיזה תוכן צריך להכין.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C1F23403-336B-4CDC-A6DB-4C2EF32ECEDC}"/>
              </a:ext>
            </a:extLst>
          </p:cNvPr>
          <p:cNvSpPr>
            <a:spLocks noGrp="1"/>
          </p:cNvSpPr>
          <p:nvPr/>
        </p:nvSpPr>
        <p:spPr>
          <a:xfrm>
            <a:off x="2333625" y="4200525"/>
            <a:ext cx="8905875" cy="9525"/>
          </a:xfrm>
          <a:prstGeom prst="rect">
            <a:avLst/>
          </a:prstGeom>
          <a:solidFill>
            <a:srgbClr val="F9D9E2"/>
          </a:solidFill>
          <a:ln w="0">
            <a:noFill/>
            <a:prstDash val="solid"/>
          </a:ln>
        </p:spPr>
      </p:sp>
      <p:pic>
        <p:nvPicPr>
          <p:cNvPr id="30" name="תמונה 2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7157" y="4381500"/>
            <a:ext cx="1065086" cy="1066800"/>
          </a:xfrm>
          <a:prstGeom prst="roundRect">
            <a:avLst>
              <a:gd name="adj" fmla="val 10714"/>
            </a:avLst>
          </a:prstGeom>
        </p:spPr>
      </p:pic>
      <p:sp>
        <p:nvSpPr>
          <p:cNvPr id="15" name="מלבן 14">
            <a:extLst>
              <a:ext uri="{FF2B5EF4-FFF2-40B4-BE49-F238E27FC236}">
                <a16:creationId xmlns:a16="http://schemas.microsoft.com/office/drawing/2014/main" id="{FCD73053-9B90-4B9C-BD06-62AE4A52C78D}"/>
              </a:ext>
            </a:extLst>
          </p:cNvPr>
          <p:cNvSpPr>
            <a:spLocks noGrp="1"/>
          </p:cNvSpPr>
          <p:nvPr/>
        </p:nvSpPr>
        <p:spPr>
          <a:xfrm>
            <a:off x="2333625" y="45339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875" b="1">
                <a:solidFill>
                  <a:srgbClr val="474747"/>
                </a:solidFill>
              </a:defRPr>
            </a:pPr>
            <a:r>
              <a:rPr sz="1875" b="1">
                <a:solidFill>
                  <a:srgbClr val="474747"/>
                </a:solidFill>
              </a:rPr>
              <a:t>מנהלות ומשפרות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0DBE58F4-20A2-47DA-9787-5B1BB222D4C4}"/>
              </a:ext>
            </a:extLst>
          </p:cNvPr>
          <p:cNvSpPr>
            <a:spLocks noGrp="1"/>
          </p:cNvSpPr>
          <p:nvPr/>
        </p:nvSpPr>
        <p:spPr>
          <a:xfrm>
            <a:off x="5429250" y="4533900"/>
            <a:ext cx="5810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7B7474"/>
                </a:solidFill>
              </a:defRPr>
            </a:pPr>
            <a:r>
              <a:rPr sz="1425" b="0">
                <a:solidFill>
                  <a:srgbClr val="7B7474"/>
                </a:solidFill>
              </a:rPr>
              <a:t>עוקבות אחרי העבודה והתוצאות, ומשנות כשצריך.</a:t>
            </a:r>
          </a:p>
        </p:txBody>
      </p:sp>
    </p:spTree>
    <p:extLst>
      <p:ext uri="{BB962C8B-B14F-4D97-AF65-F5344CB8AC3E}">
        <p14:creationId xmlns:p14="http://schemas.microsoft.com/office/powerpoint/2010/main" val="935780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582448"/>
            <a:ext cx="12192000" cy="5693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25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מלבן 23">
            <a:extLst>
              <a:ext uri="{FF2B5EF4-FFF2-40B4-BE49-F238E27FC236}">
                <a16:creationId xmlns:a16="http://schemas.microsoft.com/office/drawing/2014/main" id="{AD2AB17B-94CF-492B-BDF0-A175D1C1642D}"/>
              </a:ext>
            </a:extLst>
          </p:cNvPr>
          <p:cNvSpPr>
            <a:spLocks noGrp="1"/>
          </p:cNvSpPr>
          <p:nvPr/>
        </p:nvSpPr>
        <p:spPr>
          <a:xfrm>
            <a:off x="5334000" y="514350"/>
            <a:ext cx="619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925" b="1">
                <a:solidFill>
                  <a:srgbClr val="474747"/>
                </a:solidFill>
              </a:defRPr>
            </a:pPr>
            <a:r>
              <a:rPr sz="2925" b="1">
                <a:solidFill>
                  <a:srgbClr val="474747"/>
                </a:solidFill>
              </a:rPr>
              <a:t>סרטונים שיצרנו באמצעות בינה מלאכותית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EAE6FB68-2B90-409A-AB3D-6539DC630A48}"/>
              </a:ext>
            </a:extLst>
          </p:cNvPr>
          <p:cNvSpPr>
            <a:spLocks noGrp="1"/>
          </p:cNvSpPr>
          <p:nvPr/>
        </p:nvSpPr>
        <p:spPr>
          <a:xfrm>
            <a:off x="5334000" y="1133475"/>
            <a:ext cx="6191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7B7474"/>
                </a:solidFill>
              </a:defRPr>
            </a:pPr>
            <a:r>
              <a:rPr sz="1425" b="0">
                <a:solidFill>
                  <a:srgbClr val="7B7474"/>
                </a:solidFill>
              </a:rPr>
              <a:t>דרך נוספת לבנות סיפור, להמחיש רעיון ולייצר תוכן שגם נראה אחרת.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8B0AEA2-DC70-4EB0-8938-CDA5E1AA6B21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476375" cy="28575"/>
          </a:xfrm>
          <a:prstGeom prst="rect">
            <a:avLst/>
          </a:prstGeom>
          <a:solidFill>
            <a:srgbClr val="F40C64"/>
          </a:solidFill>
          <a:ln w="0">
            <a:noFill/>
            <a:prstDash val="solid"/>
          </a:ln>
        </p:spPr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9964E308-7946-47BF-949C-69CFB39B4755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A59B9B"/>
                </a:solidFill>
              </a:defRPr>
            </a:pPr>
            <a:r>
              <a:rPr sz="900" b="1">
                <a:solidFill>
                  <a:srgbClr val="A59B9B"/>
                </a:solidFill>
              </a:rPr>
              <a:t>05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E4DCDEA7-54EE-4FD5-822A-7FF50E69F977}"/>
              </a:ext>
            </a:extLst>
          </p:cNvPr>
          <p:cNvSpPr>
            <a:spLocks noGrp="1"/>
          </p:cNvSpPr>
          <p:nvPr/>
        </p:nvSpPr>
        <p:spPr>
          <a:xfrm>
            <a:off x="8591550" y="619125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59B9B"/>
                </a:solidFill>
              </a:defRPr>
            </a:pPr>
            <a:r>
              <a:rPr sz="825" b="1">
                <a:solidFill>
                  <a:srgbClr val="A59B9B"/>
                </a:solidFill>
              </a:rPr>
              <a:t>SISTER MARKETING AGENCY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57622BCD-C4E2-481F-96E2-6C6D7F90EC27}"/>
              </a:ext>
            </a:extLst>
          </p:cNvPr>
          <p:cNvSpPr>
            <a:spLocks noGrp="1"/>
          </p:cNvSpPr>
          <p:nvPr/>
        </p:nvSpPr>
        <p:spPr>
          <a:xfrm>
            <a:off x="1095375" y="1809750"/>
            <a:ext cx="2809875" cy="3952875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30" name="תמונה 29"/>
          <p:cNvPicPr>
            <a:picLocks noChangeAspect="1"/>
          </p:cNvPicPr>
          <p:nvPr/>
        </p:nvPicPr>
        <p:blipFill>
          <a:blip r:embed="rId3"/>
          <a:srcRect t="18292" b="18292"/>
          <a:stretch>
            <a:fillRect/>
          </a:stretch>
        </p:blipFill>
        <p:spPr>
          <a:xfrm>
            <a:off x="1266825" y="1971675"/>
            <a:ext cx="2466975" cy="2781300"/>
          </a:xfrm>
          <a:prstGeom prst="roundRect">
            <a:avLst>
              <a:gd name="adj" fmla="val 4633"/>
            </a:avLst>
          </a:prstGeom>
        </p:spPr>
      </p:pic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AF36FC4B-4260-4E22-905C-68756198F79A}"/>
              </a:ext>
            </a:extLst>
          </p:cNvPr>
          <p:cNvSpPr>
            <a:spLocks noGrp="1"/>
          </p:cNvSpPr>
          <p:nvPr/>
        </p:nvSpPr>
        <p:spPr>
          <a:xfrm>
            <a:off x="2162175" y="29527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86667"/>
            </a:srgbClr>
          </a:solidFill>
          <a:ln w="9525">
            <a:solidFill>
              <a:srgbClr val="F9D9E2"/>
            </a:solidFill>
            <a:prstDash val="solid"/>
          </a:ln>
        </p:spPr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D0C9567E-642A-4263-99A2-12379597D426}"/>
              </a:ext>
            </a:extLst>
          </p:cNvPr>
          <p:cNvSpPr>
            <a:spLocks noGrp="1"/>
          </p:cNvSpPr>
          <p:nvPr/>
        </p:nvSpPr>
        <p:spPr>
          <a:xfrm>
            <a:off x="2286000" y="3057525"/>
            <a:ext cx="43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40C64"/>
                </a:solidFill>
              </a:defRPr>
            </a:pPr>
            <a:r>
              <a:rPr sz="2025" b="1">
                <a:solidFill>
                  <a:srgbClr val="F40C64"/>
                </a:solidFill>
              </a:rPr>
              <a:t>▶</a:t>
            </a: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942405D5-9471-4F97-BA7D-EA9DDDFDB05A}"/>
              </a:ext>
            </a:extLst>
          </p:cNvPr>
          <p:cNvSpPr>
            <a:spLocks noGrp="1"/>
          </p:cNvSpPr>
          <p:nvPr/>
        </p:nvSpPr>
        <p:spPr>
          <a:xfrm>
            <a:off x="1304925" y="4933950"/>
            <a:ext cx="23907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474747"/>
                </a:solidFill>
              </a:defRPr>
            </a:pPr>
            <a:r>
              <a:rPr sz="1575" b="1">
                <a:solidFill>
                  <a:srgbClr val="474747"/>
                </a:solidFill>
              </a:rPr>
              <a:t>לייפסטייל</a:t>
            </a: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CBB441DC-310C-42D6-BFFF-317B076B3CC9}"/>
              </a:ext>
            </a:extLst>
          </p:cNvPr>
          <p:cNvSpPr>
            <a:spLocks noGrp="1"/>
          </p:cNvSpPr>
          <p:nvPr/>
        </p:nvSpPr>
        <p:spPr>
          <a:xfrm>
            <a:off x="1323975" y="5286375"/>
            <a:ext cx="2352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7B7474"/>
                </a:solidFill>
              </a:defRPr>
            </a:pPr>
            <a:r>
              <a:rPr sz="1125" b="0">
                <a:solidFill>
                  <a:srgbClr val="7B7474"/>
                </a:solidFill>
              </a:rPr>
              <a:t>סצנה ודמות שנוצרו עבור סרטון נדל״ן</a:t>
            </a:r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4FCBF592-C072-4C14-B540-FB0CFD8C106D}"/>
              </a:ext>
            </a:extLst>
          </p:cNvPr>
          <p:cNvSpPr>
            <a:spLocks noGrp="1"/>
          </p:cNvSpPr>
          <p:nvPr/>
        </p:nvSpPr>
        <p:spPr>
          <a:xfrm>
            <a:off x="4476750" y="1809750"/>
            <a:ext cx="2809875" cy="3952875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36" name="תמונה 35"/>
          <p:cNvPicPr>
            <a:picLocks noChangeAspect="1"/>
          </p:cNvPicPr>
          <p:nvPr/>
        </p:nvPicPr>
        <p:blipFill>
          <a:blip r:embed="rId4"/>
          <a:srcRect t="18292" b="18292"/>
          <a:stretch>
            <a:fillRect/>
          </a:stretch>
        </p:blipFill>
        <p:spPr>
          <a:xfrm>
            <a:off x="4648200" y="1971675"/>
            <a:ext cx="2466975" cy="2781300"/>
          </a:xfrm>
          <a:prstGeom prst="roundRect">
            <a:avLst>
              <a:gd name="adj" fmla="val 4633"/>
            </a:avLst>
          </a:prstGeom>
        </p:spPr>
      </p:pic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0F2F5D3D-213E-48A6-93AB-14B0F5FB6B8D}"/>
              </a:ext>
            </a:extLst>
          </p:cNvPr>
          <p:cNvSpPr>
            <a:spLocks noGrp="1"/>
          </p:cNvSpPr>
          <p:nvPr/>
        </p:nvSpPr>
        <p:spPr>
          <a:xfrm>
            <a:off x="5543550" y="29527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86667"/>
            </a:srgbClr>
          </a:solidFill>
          <a:ln w="9525">
            <a:solidFill>
              <a:srgbClr val="F9D9E2"/>
            </a:solidFill>
            <a:prstDash val="solid"/>
          </a:ln>
        </p:spPr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EDF5B821-5158-4194-BA78-CA6D3DB409C4}"/>
              </a:ext>
            </a:extLst>
          </p:cNvPr>
          <p:cNvSpPr>
            <a:spLocks noGrp="1"/>
          </p:cNvSpPr>
          <p:nvPr/>
        </p:nvSpPr>
        <p:spPr>
          <a:xfrm>
            <a:off x="5667375" y="3057525"/>
            <a:ext cx="43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40C64"/>
                </a:solidFill>
              </a:defRPr>
            </a:pPr>
            <a:r>
              <a:rPr sz="2025" b="1">
                <a:solidFill>
                  <a:srgbClr val="F40C64"/>
                </a:solidFill>
              </a:rPr>
              <a:t>▶</a:t>
            </a:r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70739385-1FA1-49D4-BB9E-2FD9E7B42189}"/>
              </a:ext>
            </a:extLst>
          </p:cNvPr>
          <p:cNvSpPr>
            <a:spLocks noGrp="1"/>
          </p:cNvSpPr>
          <p:nvPr/>
        </p:nvSpPr>
        <p:spPr>
          <a:xfrm>
            <a:off x="4686300" y="4933950"/>
            <a:ext cx="23907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474747"/>
                </a:solidFill>
              </a:defRPr>
            </a:pPr>
            <a:r>
              <a:rPr sz="1575" b="1">
                <a:solidFill>
                  <a:srgbClr val="474747"/>
                </a:solidFill>
              </a:rPr>
              <a:t>נדל״ן</a:t>
            </a:r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41CB9142-1E03-44A2-9F41-D40C2A7586B0}"/>
              </a:ext>
            </a:extLst>
          </p:cNvPr>
          <p:cNvSpPr>
            <a:spLocks noGrp="1"/>
          </p:cNvSpPr>
          <p:nvPr/>
        </p:nvSpPr>
        <p:spPr>
          <a:xfrm>
            <a:off x="4705350" y="5286375"/>
            <a:ext cx="2352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7B7474"/>
                </a:solidFill>
              </a:defRPr>
            </a:pPr>
            <a:r>
              <a:rPr sz="1125" b="0">
                <a:solidFill>
                  <a:srgbClr val="7B7474"/>
                </a:solidFill>
              </a:rPr>
              <a:t>הדמיה קולנועית שמכניסה את הפרויקט לחיים</a:t>
            </a:r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3BA430ED-6145-49D9-B139-12A65529B130}"/>
              </a:ext>
            </a:extLst>
          </p:cNvPr>
          <p:cNvSpPr>
            <a:spLocks noGrp="1"/>
          </p:cNvSpPr>
          <p:nvPr/>
        </p:nvSpPr>
        <p:spPr>
          <a:xfrm>
            <a:off x="7858125" y="1809750"/>
            <a:ext cx="2809875" cy="3952875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42" name="תמונה 41"/>
          <p:cNvPicPr>
            <a:picLocks noChangeAspect="1"/>
          </p:cNvPicPr>
          <p:nvPr/>
        </p:nvPicPr>
        <p:blipFill>
          <a:blip r:embed="rId5"/>
          <a:srcRect t="18292" b="18292"/>
          <a:stretch>
            <a:fillRect/>
          </a:stretch>
        </p:blipFill>
        <p:spPr>
          <a:xfrm>
            <a:off x="8029575" y="1971675"/>
            <a:ext cx="2466975" cy="2781300"/>
          </a:xfrm>
          <a:prstGeom prst="roundRect">
            <a:avLst>
              <a:gd name="adj" fmla="val 4633"/>
            </a:avLst>
          </a:prstGeom>
        </p:spPr>
      </p:pic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7D3F415C-005E-42D1-BDAA-5B373EC26792}"/>
              </a:ext>
            </a:extLst>
          </p:cNvPr>
          <p:cNvSpPr>
            <a:spLocks noGrp="1"/>
          </p:cNvSpPr>
          <p:nvPr/>
        </p:nvSpPr>
        <p:spPr>
          <a:xfrm>
            <a:off x="8924925" y="29527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FFFF">
              <a:alpha val="86667"/>
            </a:srgbClr>
          </a:solidFill>
          <a:ln w="9525">
            <a:solidFill>
              <a:srgbClr val="F9D9E2"/>
            </a:solidFill>
            <a:prstDash val="solid"/>
          </a:ln>
        </p:spPr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AD3A18F5-558C-4F99-9C28-C8A434B51E7C}"/>
              </a:ext>
            </a:extLst>
          </p:cNvPr>
          <p:cNvSpPr>
            <a:spLocks noGrp="1"/>
          </p:cNvSpPr>
          <p:nvPr/>
        </p:nvSpPr>
        <p:spPr>
          <a:xfrm>
            <a:off x="9048750" y="3057525"/>
            <a:ext cx="43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F40C64"/>
                </a:solidFill>
              </a:defRPr>
            </a:pPr>
            <a:r>
              <a:rPr sz="2025" b="1">
                <a:solidFill>
                  <a:srgbClr val="F40C64"/>
                </a:solidFill>
              </a:rPr>
              <a:t>▶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3EAE4F6B-FEC7-4E38-BDB8-EA4407DE1C56}"/>
              </a:ext>
            </a:extLst>
          </p:cNvPr>
          <p:cNvSpPr>
            <a:spLocks noGrp="1"/>
          </p:cNvSpPr>
          <p:nvPr/>
        </p:nvSpPr>
        <p:spPr>
          <a:xfrm>
            <a:off x="8067675" y="4933950"/>
            <a:ext cx="23907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474747"/>
                </a:solidFill>
              </a:defRPr>
            </a:pPr>
            <a:r>
              <a:rPr sz="1575" b="1">
                <a:solidFill>
                  <a:srgbClr val="474747"/>
                </a:solidFill>
              </a:rPr>
              <a:t>קמפיין</a:t>
            </a: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A284B459-FA89-4DF7-B7A9-3061588E8A2F}"/>
              </a:ext>
            </a:extLst>
          </p:cNvPr>
          <p:cNvSpPr>
            <a:spLocks noGrp="1"/>
          </p:cNvSpPr>
          <p:nvPr/>
        </p:nvSpPr>
        <p:spPr>
          <a:xfrm>
            <a:off x="8086725" y="5286375"/>
            <a:ext cx="23526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7B7474"/>
                </a:solidFill>
              </a:defRPr>
            </a:pPr>
            <a:r>
              <a:rPr sz="1125" b="0">
                <a:solidFill>
                  <a:srgbClr val="7B7474"/>
                </a:solidFill>
              </a:rPr>
              <a:t>יצירת אווירה ותנועה סביב סיפור המותג</a:t>
            </a:r>
          </a:p>
        </p:txBody>
      </p:sp>
      <p:sp>
        <p:nvSpPr>
          <p:cNvPr id="7" name="AI_VIDEO_LINK_1">
            <a:hlinkClick r:id="rId6"/>
            <a:extLst>
              <a:ext uri="{FF2B5EF4-FFF2-40B4-BE49-F238E27FC236}">
                <a16:creationId xmlns:a16="http://schemas.microsoft.com/office/drawing/2014/main" id="{2D2DA9B4-E72A-C53E-CE72-9E80F0F1170E}"/>
              </a:ext>
            </a:extLst>
          </p:cNvPr>
          <p:cNvSpPr/>
          <p:nvPr/>
        </p:nvSpPr>
        <p:spPr>
          <a:xfrm>
            <a:off x="1095375" y="1809750"/>
            <a:ext cx="2809875" cy="3952875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I_VIDEO_LINK_2">
            <a:hlinkClick r:id="rId7"/>
            <a:extLst>
              <a:ext uri="{FF2B5EF4-FFF2-40B4-BE49-F238E27FC236}">
                <a16:creationId xmlns:a16="http://schemas.microsoft.com/office/drawing/2014/main" id="{841E5850-643E-A963-C333-CCDBA7B20AD1}"/>
              </a:ext>
            </a:extLst>
          </p:cNvPr>
          <p:cNvSpPr/>
          <p:nvPr/>
        </p:nvSpPr>
        <p:spPr>
          <a:xfrm>
            <a:off x="4476750" y="1809750"/>
            <a:ext cx="2809875" cy="3952875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I_VIDEO_LINK_3">
            <a:hlinkClick r:id="rId8"/>
            <a:extLst>
              <a:ext uri="{FF2B5EF4-FFF2-40B4-BE49-F238E27FC236}">
                <a16:creationId xmlns:a16="http://schemas.microsoft.com/office/drawing/2014/main" id="{77F64226-490B-0F8A-DF29-E31620F75B3E}"/>
              </a:ext>
            </a:extLst>
          </p:cNvPr>
          <p:cNvSpPr/>
          <p:nvPr/>
        </p:nvSpPr>
        <p:spPr>
          <a:xfrm>
            <a:off x="7858125" y="1809750"/>
            <a:ext cx="2809875" cy="3952875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9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מלבן 13">
            <a:extLst>
              <a:ext uri="{FF2B5EF4-FFF2-40B4-BE49-F238E27FC236}">
                <a16:creationId xmlns:a16="http://schemas.microsoft.com/office/drawing/2014/main" id="{7F5DE21E-9424-4702-8BAC-FCE749258747}"/>
              </a:ext>
            </a:extLst>
          </p:cNvPr>
          <p:cNvSpPr>
            <a:spLocks noGrp="1"/>
          </p:cNvSpPr>
          <p:nvPr/>
        </p:nvSpPr>
        <p:spPr>
          <a:xfrm>
            <a:off x="5334000" y="514350"/>
            <a:ext cx="619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925" b="1">
                <a:solidFill>
                  <a:srgbClr val="474747"/>
                </a:solidFill>
              </a:defRPr>
            </a:pPr>
            <a:r>
              <a:rPr sz="2925" b="1">
                <a:solidFill>
                  <a:srgbClr val="474747"/>
                </a:solidFill>
              </a:rPr>
              <a:t>כמה דוגמאות מהעבודה שלנו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EA154B65-AFCA-4E78-9571-18C7E6331E43}"/>
              </a:ext>
            </a:extLst>
          </p:cNvPr>
          <p:cNvSpPr>
            <a:spLocks noGrp="1"/>
          </p:cNvSpPr>
          <p:nvPr/>
        </p:nvSpPr>
        <p:spPr>
          <a:xfrm>
            <a:off x="5334000" y="1133475"/>
            <a:ext cx="6191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7B7474"/>
                </a:solidFill>
              </a:defRPr>
            </a:pPr>
            <a:r>
              <a:rPr sz="1425" b="0">
                <a:solidFill>
                  <a:srgbClr val="7B7474"/>
                </a:solidFill>
              </a:rPr>
              <a:t>קריאייטיב שנבנה לפי המותג, הקהל והמטרה של כל קמפיין.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21A42AC-913C-4131-B40E-1F25736E467D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476375" cy="28575"/>
          </a:xfrm>
          <a:prstGeom prst="rect">
            <a:avLst/>
          </a:prstGeom>
          <a:solidFill>
            <a:srgbClr val="F40C64"/>
          </a:solidFill>
          <a:ln w="0">
            <a:noFill/>
            <a:prstDash val="solid"/>
          </a:ln>
        </p:spPr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B302FA22-BF62-48F6-BD5C-0ACF55461A91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A59B9B"/>
                </a:solidFill>
              </a:defRPr>
            </a:pPr>
            <a:r>
              <a:rPr sz="900" b="1">
                <a:solidFill>
                  <a:srgbClr val="A59B9B"/>
                </a:solidFill>
              </a:rPr>
              <a:t>06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E5552F09-E7BB-4200-B04D-CD388FAEC497}"/>
              </a:ext>
            </a:extLst>
          </p:cNvPr>
          <p:cNvSpPr>
            <a:spLocks noGrp="1"/>
          </p:cNvSpPr>
          <p:nvPr/>
        </p:nvSpPr>
        <p:spPr>
          <a:xfrm>
            <a:off x="8591550" y="619125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59B9B"/>
                </a:solidFill>
              </a:defRPr>
            </a:pPr>
            <a:r>
              <a:rPr sz="825" b="1">
                <a:solidFill>
                  <a:srgbClr val="A59B9B"/>
                </a:solidFill>
              </a:rPr>
              <a:t>SISTER MARKETING AGENCY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86BFBAA8-AC9B-435C-9640-2FDF9E1648DF}"/>
              </a:ext>
            </a:extLst>
          </p:cNvPr>
          <p:cNvSpPr>
            <a:spLocks noGrp="1"/>
          </p:cNvSpPr>
          <p:nvPr/>
        </p:nvSpPr>
        <p:spPr>
          <a:xfrm>
            <a:off x="685800" y="1857375"/>
            <a:ext cx="2381250" cy="3905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20" name="תמונה 19"/>
          <p:cNvPicPr>
            <a:picLocks noChangeAspect="1"/>
          </p:cNvPicPr>
          <p:nvPr/>
        </p:nvPicPr>
        <p:blipFill>
          <a:blip r:embed="rId3"/>
          <a:srcRect l="20305" r="20305"/>
          <a:stretch>
            <a:fillRect/>
          </a:stretch>
        </p:blipFill>
        <p:spPr>
          <a:xfrm>
            <a:off x="762000" y="1933575"/>
            <a:ext cx="2228850" cy="3752850"/>
          </a:xfrm>
          <a:prstGeom prst="roundRect">
            <a:avLst>
              <a:gd name="adj" fmla="val 5128"/>
            </a:avLst>
          </a:prstGeom>
        </p:spPr>
      </p:pic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D45DBE78-12AB-404B-8E4C-DB577828F1D5}"/>
              </a:ext>
            </a:extLst>
          </p:cNvPr>
          <p:cNvSpPr>
            <a:spLocks noGrp="1"/>
          </p:cNvSpPr>
          <p:nvPr/>
        </p:nvSpPr>
        <p:spPr>
          <a:xfrm>
            <a:off x="3409950" y="1857375"/>
            <a:ext cx="2381250" cy="3905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22" name="תמונה 21"/>
          <p:cNvPicPr>
            <a:picLocks noChangeAspect="1"/>
          </p:cNvPicPr>
          <p:nvPr/>
        </p:nvPicPr>
        <p:blipFill>
          <a:blip r:embed="rId4"/>
          <a:srcRect l="20305" r="20305"/>
          <a:stretch>
            <a:fillRect/>
          </a:stretch>
        </p:blipFill>
        <p:spPr>
          <a:xfrm>
            <a:off x="3486150" y="1933575"/>
            <a:ext cx="2228850" cy="3752850"/>
          </a:xfrm>
          <a:prstGeom prst="roundRect">
            <a:avLst>
              <a:gd name="adj" fmla="val 5128"/>
            </a:avLst>
          </a:prstGeom>
        </p:spPr>
      </p:pic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DA95E4E8-20DD-4FDB-B8C2-1AD4860C3808}"/>
              </a:ext>
            </a:extLst>
          </p:cNvPr>
          <p:cNvSpPr>
            <a:spLocks noGrp="1"/>
          </p:cNvSpPr>
          <p:nvPr/>
        </p:nvSpPr>
        <p:spPr>
          <a:xfrm>
            <a:off x="6134100" y="1857375"/>
            <a:ext cx="2381250" cy="3905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24" name="תמונה 23"/>
          <p:cNvPicPr>
            <a:picLocks noChangeAspect="1"/>
          </p:cNvPicPr>
          <p:nvPr/>
        </p:nvPicPr>
        <p:blipFill>
          <a:blip r:embed="rId5"/>
          <a:srcRect l="20305" r="20305"/>
          <a:stretch>
            <a:fillRect/>
          </a:stretch>
        </p:blipFill>
        <p:spPr>
          <a:xfrm>
            <a:off x="6210300" y="1933575"/>
            <a:ext cx="2228850" cy="3752850"/>
          </a:xfrm>
          <a:prstGeom prst="roundRect">
            <a:avLst>
              <a:gd name="adj" fmla="val 5128"/>
            </a:avLst>
          </a:prstGeom>
        </p:spPr>
      </p:pic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D7F93E2B-AAAB-455D-A0AA-E98822E0228B}"/>
              </a:ext>
            </a:extLst>
          </p:cNvPr>
          <p:cNvSpPr>
            <a:spLocks noGrp="1"/>
          </p:cNvSpPr>
          <p:nvPr/>
        </p:nvSpPr>
        <p:spPr>
          <a:xfrm>
            <a:off x="8858250" y="1857375"/>
            <a:ext cx="2381250" cy="390525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26" name="תמונה 25"/>
          <p:cNvPicPr>
            <a:picLocks noChangeAspect="1"/>
          </p:cNvPicPr>
          <p:nvPr/>
        </p:nvPicPr>
        <p:blipFill>
          <a:blip r:embed="rId6"/>
          <a:srcRect l="20305" r="20305"/>
          <a:stretch>
            <a:fillRect/>
          </a:stretch>
        </p:blipFill>
        <p:spPr>
          <a:xfrm>
            <a:off x="8934450" y="1933575"/>
            <a:ext cx="2228850" cy="3752850"/>
          </a:xfrm>
          <a:prstGeom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66129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מלבן 29">
            <a:extLst>
              <a:ext uri="{FF2B5EF4-FFF2-40B4-BE49-F238E27FC236}">
                <a16:creationId xmlns:a16="http://schemas.microsoft.com/office/drawing/2014/main" id="{FF206762-714B-4639-875C-DC5718CE3CF5}"/>
              </a:ext>
            </a:extLst>
          </p:cNvPr>
          <p:cNvSpPr>
            <a:spLocks noGrp="1"/>
          </p:cNvSpPr>
          <p:nvPr/>
        </p:nvSpPr>
        <p:spPr>
          <a:xfrm>
            <a:off x="5334000" y="514350"/>
            <a:ext cx="619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925" b="1">
                <a:solidFill>
                  <a:srgbClr val="474747"/>
                </a:solidFill>
              </a:defRPr>
            </a:pPr>
            <a:r>
              <a:rPr sz="2925" b="1">
                <a:solidFill>
                  <a:srgbClr val="474747"/>
                </a:solidFill>
              </a:rPr>
              <a:t>אתרים ודפי נחיתה שבנינו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FBEB1277-7797-428E-B7A1-6B9735D3428B}"/>
              </a:ext>
            </a:extLst>
          </p:cNvPr>
          <p:cNvSpPr>
            <a:spLocks noGrp="1"/>
          </p:cNvSpPr>
          <p:nvPr/>
        </p:nvSpPr>
        <p:spPr>
          <a:xfrm>
            <a:off x="5334000" y="1133475"/>
            <a:ext cx="6191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7B7474"/>
                </a:solidFill>
              </a:defRPr>
            </a:pPr>
            <a:r>
              <a:rPr sz="1425" b="0">
                <a:solidFill>
                  <a:srgbClr val="7B7474"/>
                </a:solidFill>
              </a:rPr>
              <a:t>האפיון, הקופי והעיצוב מתחברים לעמוד שקל להבין ונעים להתקדם בו.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800D46B5-F039-44B6-89D6-25CACF563685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476375" cy="28575"/>
          </a:xfrm>
          <a:prstGeom prst="rect">
            <a:avLst/>
          </a:prstGeom>
          <a:solidFill>
            <a:srgbClr val="F40C64"/>
          </a:solidFill>
          <a:ln w="0">
            <a:noFill/>
            <a:prstDash val="solid"/>
          </a:ln>
        </p:spPr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D3BCD79E-D2A5-441C-89AA-9CC1451032A2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A59B9B"/>
                </a:solidFill>
              </a:defRPr>
            </a:pPr>
            <a:r>
              <a:rPr sz="900" b="1">
                <a:solidFill>
                  <a:srgbClr val="A59B9B"/>
                </a:solidFill>
              </a:rPr>
              <a:t>07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59E27337-75B0-4E58-B0AC-658F178149AC}"/>
              </a:ext>
            </a:extLst>
          </p:cNvPr>
          <p:cNvSpPr>
            <a:spLocks noGrp="1"/>
          </p:cNvSpPr>
          <p:nvPr/>
        </p:nvSpPr>
        <p:spPr>
          <a:xfrm>
            <a:off x="8591550" y="619125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59B9B"/>
                </a:solidFill>
              </a:defRPr>
            </a:pPr>
            <a:r>
              <a:rPr sz="825" b="1">
                <a:solidFill>
                  <a:srgbClr val="A59B9B"/>
                </a:solidFill>
              </a:rPr>
              <a:t>SISTER MARKETING AGENCY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C8C95F71-D497-4413-953F-4E1915B61294}"/>
              </a:ext>
            </a:extLst>
          </p:cNvPr>
          <p:cNvSpPr>
            <a:spLocks noGrp="1"/>
          </p:cNvSpPr>
          <p:nvPr/>
        </p:nvSpPr>
        <p:spPr>
          <a:xfrm>
            <a:off x="552450" y="1809750"/>
            <a:ext cx="3619500" cy="39052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A4F48EBF-391B-471E-9D05-2033A300A1E8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3352800" cy="2247900"/>
          </a:xfrm>
          <a:prstGeom prst="roundRect">
            <a:avLst>
              <a:gd name="adj" fmla="val 5085"/>
            </a:avLst>
          </a:prstGeom>
          <a:solidFill>
            <a:srgbClr val="F4F4F4"/>
          </a:solidFill>
          <a:ln w="0">
            <a:noFill/>
            <a:prstDash val="solid"/>
          </a:ln>
        </p:spPr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EA78A418-1B93-41AB-B2CC-CDB6ABF94F46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FF6F61"/>
          </a:solidFill>
          <a:ln w="0">
            <a:noFill/>
            <a:prstDash val="solid"/>
          </a:ln>
        </p:spPr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2CB932D1-3AF2-416B-B209-214379F4F0B9}"/>
              </a:ext>
            </a:extLst>
          </p:cNvPr>
          <p:cNvSpPr>
            <a:spLocks noGrp="1"/>
          </p:cNvSpPr>
          <p:nvPr/>
        </p:nvSpPr>
        <p:spPr>
          <a:xfrm>
            <a:off x="971550" y="20478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FA8B5C"/>
          </a:solidFill>
          <a:ln w="0">
            <a:noFill/>
            <a:prstDash val="solid"/>
          </a:ln>
        </p:spPr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CF2A1FEE-718E-4110-9E8E-372886F8D1E1}"/>
              </a:ext>
            </a:extLst>
          </p:cNvPr>
          <p:cNvSpPr>
            <a:spLocks noGrp="1"/>
          </p:cNvSpPr>
          <p:nvPr/>
        </p:nvSpPr>
        <p:spPr>
          <a:xfrm>
            <a:off x="1104900" y="20478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F40C64"/>
          </a:solidFill>
          <a:ln w="0">
            <a:noFill/>
            <a:prstDash val="solid"/>
          </a:ln>
        </p:spPr>
      </p:sp>
      <p:pic>
        <p:nvPicPr>
          <p:cNvPr id="40" name="תמונה 39"/>
          <p:cNvPicPr>
            <a:picLocks noChangeAspect="1"/>
          </p:cNvPicPr>
          <p:nvPr/>
        </p:nvPicPr>
        <p:blipFill>
          <a:blip r:embed="rId3"/>
          <a:srcRect l="3273" r="3273"/>
          <a:stretch>
            <a:fillRect/>
          </a:stretch>
        </p:blipFill>
        <p:spPr>
          <a:xfrm>
            <a:off x="685800" y="2181225"/>
            <a:ext cx="3352800" cy="2019300"/>
          </a:xfrm>
          <a:prstGeom prst="roundRect">
            <a:avLst>
              <a:gd name="adj" fmla="val 5660"/>
            </a:avLst>
          </a:prstGeom>
        </p:spPr>
      </p:pic>
      <p:sp>
        <p:nvSpPr>
          <p:cNvPr id="12" name="מלבן 11">
            <a:extLst>
              <a:ext uri="{FF2B5EF4-FFF2-40B4-BE49-F238E27FC236}">
                <a16:creationId xmlns:a16="http://schemas.microsoft.com/office/drawing/2014/main" id="{21608E6F-B4B5-4C41-B980-6638D8AED728}"/>
              </a:ext>
            </a:extLst>
          </p:cNvPr>
          <p:cNvSpPr>
            <a:spLocks noGrp="1"/>
          </p:cNvSpPr>
          <p:nvPr/>
        </p:nvSpPr>
        <p:spPr>
          <a:xfrm>
            <a:off x="781050" y="4438650"/>
            <a:ext cx="3162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75" b="1">
                <a:solidFill>
                  <a:srgbClr val="474747"/>
                </a:solidFill>
              </a:defRPr>
            </a:pPr>
            <a:r>
              <a:rPr sz="1575" b="1">
                <a:solidFill>
                  <a:srgbClr val="474747"/>
                </a:solidFill>
              </a:rPr>
              <a:t>אתר קבוצת פדלון</a:t>
            </a: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1181B24B-C7A3-4687-8EDA-0F4E7BE94F10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F40C64"/>
                </a:solidFill>
              </a:defRPr>
            </a:pPr>
            <a:r>
              <a:rPr sz="1125" b="1">
                <a:solidFill>
                  <a:srgbClr val="F40C64"/>
                </a:solidFill>
              </a:rPr>
              <a:t>fadlon.co.il</a:t>
            </a:r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27DAA50E-B1AC-4C5D-B1DE-503AD872F254}"/>
              </a:ext>
            </a:extLst>
          </p:cNvPr>
          <p:cNvSpPr>
            <a:spLocks noGrp="1"/>
          </p:cNvSpPr>
          <p:nvPr/>
        </p:nvSpPr>
        <p:spPr>
          <a:xfrm>
            <a:off x="4438650" y="1809750"/>
            <a:ext cx="3619500" cy="39052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62E682BC-2899-43F0-B6C8-B817348B78C9}"/>
              </a:ext>
            </a:extLst>
          </p:cNvPr>
          <p:cNvSpPr>
            <a:spLocks noGrp="1"/>
          </p:cNvSpPr>
          <p:nvPr/>
        </p:nvSpPr>
        <p:spPr>
          <a:xfrm>
            <a:off x="4572000" y="1952625"/>
            <a:ext cx="3352800" cy="2247900"/>
          </a:xfrm>
          <a:prstGeom prst="roundRect">
            <a:avLst>
              <a:gd name="adj" fmla="val 5085"/>
            </a:avLst>
          </a:prstGeom>
          <a:solidFill>
            <a:srgbClr val="F4F4F4"/>
          </a:solidFill>
          <a:ln w="0">
            <a:noFill/>
            <a:prstDash val="solid"/>
          </a:ln>
        </p:spPr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6E39C1D0-1DB7-4EBC-9D38-35DE9459BD31}"/>
              </a:ext>
            </a:extLst>
          </p:cNvPr>
          <p:cNvSpPr>
            <a:spLocks noGrp="1"/>
          </p:cNvSpPr>
          <p:nvPr/>
        </p:nvSpPr>
        <p:spPr>
          <a:xfrm>
            <a:off x="4724400" y="20478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FF6F61"/>
          </a:solidFill>
          <a:ln w="0">
            <a:noFill/>
            <a:prstDash val="solid"/>
          </a:ln>
        </p:spPr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D7192DA8-BB17-429B-A544-1B2B1D0C2AE1}"/>
              </a:ext>
            </a:extLst>
          </p:cNvPr>
          <p:cNvSpPr>
            <a:spLocks noGrp="1"/>
          </p:cNvSpPr>
          <p:nvPr/>
        </p:nvSpPr>
        <p:spPr>
          <a:xfrm>
            <a:off x="4857750" y="20478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FA8B5C"/>
          </a:solidFill>
          <a:ln w="0">
            <a:noFill/>
            <a:prstDash val="solid"/>
          </a:ln>
        </p:spPr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3CC22687-6E28-4D6B-A3B4-91E5B90FC7A6}"/>
              </a:ext>
            </a:extLst>
          </p:cNvPr>
          <p:cNvSpPr>
            <a:spLocks noGrp="1"/>
          </p:cNvSpPr>
          <p:nvPr/>
        </p:nvSpPr>
        <p:spPr>
          <a:xfrm>
            <a:off x="4991100" y="20478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F40C64"/>
          </a:solidFill>
          <a:ln w="0">
            <a:noFill/>
            <a:prstDash val="solid"/>
          </a:ln>
        </p:spPr>
      </p:sp>
      <p:pic>
        <p:nvPicPr>
          <p:cNvPr id="48" name="תמונה 47"/>
          <p:cNvPicPr>
            <a:picLocks noChangeAspect="1"/>
          </p:cNvPicPr>
          <p:nvPr/>
        </p:nvPicPr>
        <p:blipFill>
          <a:blip r:embed="rId4"/>
          <a:srcRect l="3273" r="3273"/>
          <a:stretch>
            <a:fillRect/>
          </a:stretch>
        </p:blipFill>
        <p:spPr>
          <a:xfrm>
            <a:off x="4572000" y="2181225"/>
            <a:ext cx="3352800" cy="2019300"/>
          </a:xfrm>
          <a:prstGeom prst="roundRect">
            <a:avLst>
              <a:gd name="adj" fmla="val 5660"/>
            </a:avLst>
          </a:prstGeom>
        </p:spPr>
      </p:pic>
      <p:sp>
        <p:nvSpPr>
          <p:cNvPr id="20" name="מלבן 19">
            <a:extLst>
              <a:ext uri="{FF2B5EF4-FFF2-40B4-BE49-F238E27FC236}">
                <a16:creationId xmlns:a16="http://schemas.microsoft.com/office/drawing/2014/main" id="{CB9299E1-AEDB-4DB2-B2B2-2AD71838CE46}"/>
              </a:ext>
            </a:extLst>
          </p:cNvPr>
          <p:cNvSpPr>
            <a:spLocks noGrp="1"/>
          </p:cNvSpPr>
          <p:nvPr/>
        </p:nvSpPr>
        <p:spPr>
          <a:xfrm>
            <a:off x="4667250" y="4438650"/>
            <a:ext cx="3162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75" b="1">
                <a:solidFill>
                  <a:srgbClr val="474747"/>
                </a:solidFill>
              </a:defRPr>
            </a:pPr>
            <a:r>
              <a:rPr sz="1575" b="1">
                <a:solidFill>
                  <a:srgbClr val="474747"/>
                </a:solidFill>
              </a:rPr>
              <a:t>דף הנחיתה של עולם ומלואה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49DE2FBF-D359-43D2-A157-13D5A5F1259B}"/>
              </a:ext>
            </a:extLst>
          </p:cNvPr>
          <p:cNvSpPr>
            <a:spLocks noGrp="1"/>
          </p:cNvSpPr>
          <p:nvPr/>
        </p:nvSpPr>
        <p:spPr>
          <a:xfrm>
            <a:off x="4667250" y="501015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F40C64"/>
                </a:solidFill>
              </a:defRPr>
            </a:pPr>
            <a:r>
              <a:rPr sz="1125" b="1">
                <a:solidFill>
                  <a:srgbClr val="F40C64"/>
                </a:solidFill>
              </a:rPr>
              <a:t>lp.olamumloa.co.il</a:t>
            </a:r>
          </a:p>
        </p:txBody>
      </p:sp>
      <p:sp>
        <p:nvSpPr>
          <p:cNvPr id="22" name="מלבן: פינות מעוגלות 21">
            <a:extLst>
              <a:ext uri="{FF2B5EF4-FFF2-40B4-BE49-F238E27FC236}">
                <a16:creationId xmlns:a16="http://schemas.microsoft.com/office/drawing/2014/main" id="{E424729B-1846-418A-983C-117A8444FB2B}"/>
              </a:ext>
            </a:extLst>
          </p:cNvPr>
          <p:cNvSpPr>
            <a:spLocks noGrp="1"/>
          </p:cNvSpPr>
          <p:nvPr/>
        </p:nvSpPr>
        <p:spPr>
          <a:xfrm>
            <a:off x="8324850" y="1809750"/>
            <a:ext cx="3619500" cy="39052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sp>
        <p:nvSpPr>
          <p:cNvPr id="23" name="מלבן: פינות מעוגלות 22">
            <a:extLst>
              <a:ext uri="{FF2B5EF4-FFF2-40B4-BE49-F238E27FC236}">
                <a16:creationId xmlns:a16="http://schemas.microsoft.com/office/drawing/2014/main" id="{BB10ED16-6CF3-4EC8-8F5C-4E6E3617B571}"/>
              </a:ext>
            </a:extLst>
          </p:cNvPr>
          <p:cNvSpPr>
            <a:spLocks noGrp="1"/>
          </p:cNvSpPr>
          <p:nvPr/>
        </p:nvSpPr>
        <p:spPr>
          <a:xfrm>
            <a:off x="8458200" y="1952625"/>
            <a:ext cx="3352800" cy="2247900"/>
          </a:xfrm>
          <a:prstGeom prst="roundRect">
            <a:avLst>
              <a:gd name="adj" fmla="val 5085"/>
            </a:avLst>
          </a:prstGeom>
          <a:solidFill>
            <a:srgbClr val="F4F4F4"/>
          </a:solidFill>
          <a:ln w="0">
            <a:noFill/>
            <a:prstDash val="solid"/>
          </a:ln>
        </p:spPr>
      </p:sp>
      <p:sp>
        <p:nvSpPr>
          <p:cNvPr id="24" name="מלבן: פינות מעוגלות 23">
            <a:extLst>
              <a:ext uri="{FF2B5EF4-FFF2-40B4-BE49-F238E27FC236}">
                <a16:creationId xmlns:a16="http://schemas.microsoft.com/office/drawing/2014/main" id="{AC165E04-9C93-4AD3-84F9-45F5E60C2806}"/>
              </a:ext>
            </a:extLst>
          </p:cNvPr>
          <p:cNvSpPr>
            <a:spLocks noGrp="1"/>
          </p:cNvSpPr>
          <p:nvPr/>
        </p:nvSpPr>
        <p:spPr>
          <a:xfrm>
            <a:off x="8610600" y="20478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FF6F61"/>
          </a:solidFill>
          <a:ln w="0">
            <a:noFill/>
            <a:prstDash val="solid"/>
          </a:ln>
        </p:spPr>
      </p:sp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3289DA89-B207-412E-A795-B292D884BD11}"/>
              </a:ext>
            </a:extLst>
          </p:cNvPr>
          <p:cNvSpPr>
            <a:spLocks noGrp="1"/>
          </p:cNvSpPr>
          <p:nvPr/>
        </p:nvSpPr>
        <p:spPr>
          <a:xfrm>
            <a:off x="8743950" y="20478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FA8B5C"/>
          </a:solidFill>
          <a:ln w="0">
            <a:noFill/>
            <a:prstDash val="solid"/>
          </a:ln>
        </p:spPr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34AEF192-21C0-4C01-8B18-1593663C58FC}"/>
              </a:ext>
            </a:extLst>
          </p:cNvPr>
          <p:cNvSpPr>
            <a:spLocks noGrp="1"/>
          </p:cNvSpPr>
          <p:nvPr/>
        </p:nvSpPr>
        <p:spPr>
          <a:xfrm>
            <a:off x="8877300" y="20478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F40C64"/>
          </a:solidFill>
          <a:ln w="0">
            <a:noFill/>
            <a:prstDash val="solid"/>
          </a:ln>
        </p:spPr>
      </p:sp>
      <p:pic>
        <p:nvPicPr>
          <p:cNvPr id="56" name="תמונה 55"/>
          <p:cNvPicPr>
            <a:picLocks noChangeAspect="1"/>
          </p:cNvPicPr>
          <p:nvPr/>
        </p:nvPicPr>
        <p:blipFill>
          <a:blip r:embed="rId5"/>
          <a:srcRect l="3273" r="3273"/>
          <a:stretch>
            <a:fillRect/>
          </a:stretch>
        </p:blipFill>
        <p:spPr>
          <a:xfrm>
            <a:off x="8458200" y="2181225"/>
            <a:ext cx="3352800" cy="2019300"/>
          </a:xfrm>
          <a:prstGeom prst="roundRect">
            <a:avLst>
              <a:gd name="adj" fmla="val 5660"/>
            </a:avLst>
          </a:prstGeom>
        </p:spPr>
      </p:pic>
      <p:sp>
        <p:nvSpPr>
          <p:cNvPr id="28" name="מלבן 27">
            <a:extLst>
              <a:ext uri="{FF2B5EF4-FFF2-40B4-BE49-F238E27FC236}">
                <a16:creationId xmlns:a16="http://schemas.microsoft.com/office/drawing/2014/main" id="{819D3CFA-F970-40CC-A0D6-A422241ECD93}"/>
              </a:ext>
            </a:extLst>
          </p:cNvPr>
          <p:cNvSpPr>
            <a:spLocks noGrp="1"/>
          </p:cNvSpPr>
          <p:nvPr/>
        </p:nvSpPr>
        <p:spPr>
          <a:xfrm>
            <a:off x="8553450" y="4438650"/>
            <a:ext cx="3162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575" b="1">
                <a:solidFill>
                  <a:srgbClr val="474747"/>
                </a:solidFill>
              </a:defRPr>
            </a:pPr>
            <a:r>
              <a:rPr sz="1575" b="1">
                <a:solidFill>
                  <a:srgbClr val="474747"/>
                </a:solidFill>
              </a:rPr>
              <a:t>עמוד הקריירה של שפונדר פדלון</a:t>
            </a:r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12F0E1CF-ED17-44AF-B621-060A98ACA15B}"/>
              </a:ext>
            </a:extLst>
          </p:cNvPr>
          <p:cNvSpPr>
            <a:spLocks noGrp="1"/>
          </p:cNvSpPr>
          <p:nvPr/>
        </p:nvSpPr>
        <p:spPr>
          <a:xfrm>
            <a:off x="8553450" y="501015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F40C64"/>
                </a:solidFill>
              </a:defRPr>
            </a:pPr>
            <a:r>
              <a:rPr sz="1125" b="1">
                <a:solidFill>
                  <a:srgbClr val="F40C64"/>
                </a:solidFill>
              </a:rPr>
              <a:t>sf-group.co.il/career</a:t>
            </a:r>
          </a:p>
        </p:txBody>
      </p:sp>
    </p:spTree>
    <p:extLst>
      <p:ext uri="{BB962C8B-B14F-4D97-AF65-F5344CB8AC3E}">
        <p14:creationId xmlns:p14="http://schemas.microsoft.com/office/powerpoint/2010/main" val="1670972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תמונה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1950" y="364082"/>
            <a:ext cx="5048250" cy="6129836"/>
          </a:xfrm>
          <a:prstGeom prst="roundRect">
            <a:avLst>
              <a:gd name="adj" fmla="val 2264"/>
            </a:avLst>
          </a:prstGeom>
        </p:spPr>
      </p:pic>
      <p:pic>
        <p:nvPicPr>
          <p:cNvPr id="11" name="תמונה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91904" y="666750"/>
            <a:ext cx="2809068" cy="1104900"/>
          </a:xfrm>
          <a:prstGeom prst="roundRect">
            <a:avLst>
              <a:gd name="adj" fmla="val 10345"/>
            </a:avLst>
          </a:prstGeom>
        </p:spPr>
      </p:pic>
      <p:sp>
        <p:nvSpPr>
          <p:cNvPr id="3" name="מלבן 2">
            <a:extLst>
              <a:ext uri="{FF2B5EF4-FFF2-40B4-BE49-F238E27FC236}">
                <a16:creationId xmlns:a16="http://schemas.microsoft.com/office/drawing/2014/main" id="{BFFA98D7-AE8B-4810-BAD0-362807DC0BC7}"/>
              </a:ext>
            </a:extLst>
          </p:cNvPr>
          <p:cNvSpPr>
            <a:spLocks noGrp="1"/>
          </p:cNvSpPr>
          <p:nvPr/>
        </p:nvSpPr>
        <p:spPr>
          <a:xfrm>
            <a:off x="5715000" y="2333625"/>
            <a:ext cx="5334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925" b="1">
                <a:solidFill>
                  <a:srgbClr val="474747"/>
                </a:solidFill>
              </a:defRPr>
            </a:pPr>
            <a:r>
              <a:rPr sz="2925" b="1">
                <a:solidFill>
                  <a:srgbClr val="474747"/>
                </a:solidFill>
              </a:rPr>
              <a:t>נראה איך זה יכול לעבוד אצלכם.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3AD160AF-34A5-4E98-87E3-7A0353EF6DBB}"/>
              </a:ext>
            </a:extLst>
          </p:cNvPr>
          <p:cNvSpPr>
            <a:spLocks noGrp="1"/>
          </p:cNvSpPr>
          <p:nvPr/>
        </p:nvSpPr>
        <p:spPr>
          <a:xfrm>
            <a:off x="6191250" y="3238500"/>
            <a:ext cx="4857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650" b="0">
                <a:solidFill>
                  <a:srgbClr val="7B7474"/>
                </a:solidFill>
              </a:defRPr>
            </a:pPr>
            <a:r>
              <a:rPr sz="1650" b="0">
                <a:solidFill>
                  <a:srgbClr val="7B7474"/>
                </a:solidFill>
              </a:rPr>
              <a:t>ספרו לנו איפה השיווק עומד היום ומה הייתם רוצים שיקרה. משם נחשוב יחד מה חסר ומה נכון לעשות.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A46FD681-6823-4D13-8852-BDD4AA3B5334}"/>
              </a:ext>
            </a:extLst>
          </p:cNvPr>
          <p:cNvSpPr>
            <a:spLocks noGrp="1"/>
          </p:cNvSpPr>
          <p:nvPr/>
        </p:nvSpPr>
        <p:spPr>
          <a:xfrm>
            <a:off x="6191250" y="4648200"/>
            <a:ext cx="4857750" cy="19050"/>
          </a:xfrm>
          <a:prstGeom prst="rect">
            <a:avLst/>
          </a:prstGeom>
          <a:solidFill>
            <a:srgbClr val="F9D9E2"/>
          </a:solidFill>
          <a:ln w="0">
            <a:noFill/>
            <a:prstDash val="solid"/>
          </a:ln>
        </p:spPr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A5524BDB-C1FF-4E09-8B50-67E8903788DD}"/>
              </a:ext>
            </a:extLst>
          </p:cNvPr>
          <p:cNvSpPr>
            <a:spLocks noGrp="1"/>
          </p:cNvSpPr>
          <p:nvPr/>
        </p:nvSpPr>
        <p:spPr>
          <a:xfrm>
            <a:off x="6191250" y="487680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1">
                <a:solidFill>
                  <a:srgbClr val="F40C64"/>
                </a:solidFill>
              </a:defRPr>
            </a:pPr>
            <a:r>
              <a:rPr sz="1425" b="1">
                <a:solidFill>
                  <a:srgbClr val="F40C64"/>
                </a:solidFill>
              </a:rPr>
              <a:t>קרן חיים  |  054-7529756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B0F86D8C-F28A-4FCD-871D-976FC53D13BE}"/>
              </a:ext>
            </a:extLst>
          </p:cNvPr>
          <p:cNvSpPr>
            <a:spLocks noGrp="1"/>
          </p:cNvSpPr>
          <p:nvPr/>
        </p:nvSpPr>
        <p:spPr>
          <a:xfrm>
            <a:off x="6191250" y="5257800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0">
                <a:solidFill>
                  <a:srgbClr val="474747"/>
                </a:solidFill>
              </a:defRPr>
            </a:pPr>
            <a:r>
              <a:rPr sz="1275" b="0">
                <a:solidFill>
                  <a:srgbClr val="474747"/>
                </a:solidFill>
              </a:rPr>
              <a:t>keren@sistermarketing.co.il</a:t>
            </a: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E7654A77-0EA5-4287-B4EA-8A87ABCC2E13}"/>
              </a:ext>
            </a:extLst>
          </p:cNvPr>
          <p:cNvSpPr>
            <a:spLocks noGrp="1"/>
          </p:cNvSpPr>
          <p:nvPr/>
        </p:nvSpPr>
        <p:spPr>
          <a:xfrm>
            <a:off x="6191250" y="5572125"/>
            <a:ext cx="485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0">
                <a:solidFill>
                  <a:srgbClr val="474747"/>
                </a:solidFill>
              </a:defRPr>
            </a:pPr>
            <a:r>
              <a:rPr sz="1275" b="0">
                <a:solidFill>
                  <a:srgbClr val="474747"/>
                </a:solidFill>
              </a:rPr>
              <a:t>sistermarketing.co.il</a:t>
            </a: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C5573B21-E815-42EB-B02B-4B4A014115D6}"/>
              </a:ext>
            </a:extLst>
          </p:cNvPr>
          <p:cNvSpPr>
            <a:spLocks noGrp="1"/>
          </p:cNvSpPr>
          <p:nvPr/>
        </p:nvSpPr>
        <p:spPr>
          <a:xfrm>
            <a:off x="6191250" y="60388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>
                <a:solidFill>
                  <a:srgbClr val="F40C64"/>
                </a:solidFill>
              </a:defRPr>
            </a:pPr>
            <a:r>
              <a:rPr sz="1275" b="1">
                <a:solidFill>
                  <a:srgbClr val="F40C64"/>
                </a:solidFill>
              </a:rPr>
              <a:t>EVERYONE NEEDS A S!STER</a:t>
            </a:r>
          </a:p>
        </p:txBody>
      </p:sp>
    </p:spTree>
    <p:extLst>
      <p:ext uri="{BB962C8B-B14F-4D97-AF65-F5344CB8AC3E}">
        <p14:creationId xmlns:p14="http://schemas.microsoft.com/office/powerpoint/2010/main" val="441141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מלבן 41">
            <a:extLst>
              <a:ext uri="{FF2B5EF4-FFF2-40B4-BE49-F238E27FC236}">
                <a16:creationId xmlns:a16="http://schemas.microsoft.com/office/drawing/2014/main" id="{8BA3D8BB-8C63-4B34-B185-B4C23730477E}"/>
              </a:ext>
            </a:extLst>
          </p:cNvPr>
          <p:cNvSpPr>
            <a:spLocks noGrp="1"/>
          </p:cNvSpPr>
          <p:nvPr/>
        </p:nvSpPr>
        <p:spPr>
          <a:xfrm>
            <a:off x="5334000" y="514350"/>
            <a:ext cx="6191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925" b="1">
                <a:solidFill>
                  <a:srgbClr val="474747"/>
                </a:solidFill>
              </a:defRPr>
            </a:pPr>
            <a:r>
              <a:rPr sz="2925" b="1">
                <a:solidFill>
                  <a:srgbClr val="474747"/>
                </a:solidFill>
              </a:rPr>
              <a:t>מאושרות לעבוד עם...</a:t>
            </a:r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A2E75EC1-6A0D-4382-904B-512B3CDAFE28}"/>
              </a:ext>
            </a:extLst>
          </p:cNvPr>
          <p:cNvSpPr>
            <a:spLocks noGrp="1"/>
          </p:cNvSpPr>
          <p:nvPr/>
        </p:nvSpPr>
        <p:spPr>
          <a:xfrm>
            <a:off x="5334000" y="1133475"/>
            <a:ext cx="619125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425" b="0">
                <a:solidFill>
                  <a:srgbClr val="7B7474"/>
                </a:solidFill>
              </a:defRPr>
            </a:pPr>
            <a:r>
              <a:rPr sz="1425" b="0">
                <a:solidFill>
                  <a:srgbClr val="7B7474"/>
                </a:solidFill>
              </a:rPr>
              <a:t>כמה מהמותגים והארגונים שליווינו לאורך הדרך.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E692C4EE-3105-4D95-9159-0793CB5F0C24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1476375" cy="28575"/>
          </a:xfrm>
          <a:prstGeom prst="rect">
            <a:avLst/>
          </a:prstGeom>
          <a:solidFill>
            <a:srgbClr val="F40C64"/>
          </a:solidFill>
          <a:ln w="0">
            <a:noFill/>
            <a:prstDash val="solid"/>
          </a:ln>
        </p:spPr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FB5812CE-C4B3-428E-BAC4-5A8C518AAC61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A59B9B"/>
                </a:solidFill>
              </a:defRPr>
            </a:pPr>
            <a:r>
              <a:rPr sz="900" b="1">
                <a:solidFill>
                  <a:srgbClr val="A59B9B"/>
                </a:solidFill>
              </a:rPr>
              <a:t>09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682D3CFE-FFBF-410B-98BE-E871925F2F6F}"/>
              </a:ext>
            </a:extLst>
          </p:cNvPr>
          <p:cNvSpPr>
            <a:spLocks noGrp="1"/>
          </p:cNvSpPr>
          <p:nvPr/>
        </p:nvSpPr>
        <p:spPr>
          <a:xfrm>
            <a:off x="8591550" y="6191250"/>
            <a:ext cx="2933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A59B9B"/>
                </a:solidFill>
              </a:defRPr>
            </a:pPr>
            <a:r>
              <a:rPr sz="825" b="1">
                <a:solidFill>
                  <a:srgbClr val="A59B9B"/>
                </a:solidFill>
              </a:rPr>
              <a:t>SISTER MARKETING AGENCY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D8A6A5F3-AE75-4799-B68A-D69191459E0D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48" name="תמונה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14425" y="1962150"/>
            <a:ext cx="723900" cy="723900"/>
          </a:xfrm>
          <a:prstGeom prst="rect">
            <a:avLst/>
          </a:prstGeom>
        </p:spPr>
      </p:pic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353163A0-1F87-474A-B115-3AF1C4D6E0E8}"/>
              </a:ext>
            </a:extLst>
          </p:cNvPr>
          <p:cNvSpPr>
            <a:spLocks noGrp="1"/>
          </p:cNvSpPr>
          <p:nvPr/>
        </p:nvSpPr>
        <p:spPr>
          <a:xfrm>
            <a:off x="2524125" y="1809750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50" name="תמונה 4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695575" y="2043303"/>
            <a:ext cx="1276350" cy="561594"/>
          </a:xfrm>
          <a:prstGeom prst="rect">
            <a:avLst/>
          </a:prstGeom>
        </p:spPr>
      </p:pic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17EE38D5-654C-4DCE-BAA0-725D92B386ED}"/>
              </a:ext>
            </a:extLst>
          </p:cNvPr>
          <p:cNvSpPr>
            <a:spLocks noGrp="1"/>
          </p:cNvSpPr>
          <p:nvPr/>
        </p:nvSpPr>
        <p:spPr>
          <a:xfrm>
            <a:off x="4381500" y="1809750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52" name="תמונה 5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552950" y="2072021"/>
            <a:ext cx="1276350" cy="504158"/>
          </a:xfrm>
          <a:prstGeom prst="rect">
            <a:avLst/>
          </a:prstGeom>
        </p:spPr>
      </p:pic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18C3185F-3514-4F27-B3B2-AF1A3631F943}"/>
              </a:ext>
            </a:extLst>
          </p:cNvPr>
          <p:cNvSpPr>
            <a:spLocks noGrp="1"/>
          </p:cNvSpPr>
          <p:nvPr/>
        </p:nvSpPr>
        <p:spPr>
          <a:xfrm>
            <a:off x="6238875" y="1809750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54" name="תמונה 5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617036" y="1962150"/>
            <a:ext cx="862927" cy="723900"/>
          </a:xfrm>
          <a:prstGeom prst="rect">
            <a:avLst/>
          </a:prstGeom>
        </p:spPr>
      </p:pic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F50A9448-3605-499A-8B93-50EFFC3600DF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56" name="תמונה 5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267700" y="2126846"/>
            <a:ext cx="1276350" cy="394508"/>
          </a:xfrm>
          <a:prstGeom prst="rect">
            <a:avLst/>
          </a:prstGeom>
        </p:spPr>
      </p:pic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44DDA5B1-61DB-485C-B54F-D9A7B5C856F6}"/>
              </a:ext>
            </a:extLst>
          </p:cNvPr>
          <p:cNvSpPr>
            <a:spLocks noGrp="1"/>
          </p:cNvSpPr>
          <p:nvPr/>
        </p:nvSpPr>
        <p:spPr>
          <a:xfrm>
            <a:off x="9953625" y="1809750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58" name="תמונה 5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125075" y="2056067"/>
            <a:ext cx="1276350" cy="536067"/>
          </a:xfrm>
          <a:prstGeom prst="rect">
            <a:avLst/>
          </a:prstGeom>
        </p:spPr>
      </p:pic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4C202A2E-05E5-40A5-BF41-0045FDE9ACC3}"/>
              </a:ext>
            </a:extLst>
          </p:cNvPr>
          <p:cNvSpPr>
            <a:spLocks noGrp="1"/>
          </p:cNvSpPr>
          <p:nvPr/>
        </p:nvSpPr>
        <p:spPr>
          <a:xfrm>
            <a:off x="666750" y="3114675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60" name="תמונה 59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114425" y="3267075"/>
            <a:ext cx="723900" cy="723900"/>
          </a:xfrm>
          <a:prstGeom prst="rect">
            <a:avLst/>
          </a:prstGeom>
        </p:spPr>
      </p:pic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1C168ED1-C483-4F7B-9ED7-E3EFC86C2976}"/>
              </a:ext>
            </a:extLst>
          </p:cNvPr>
          <p:cNvSpPr>
            <a:spLocks noGrp="1"/>
          </p:cNvSpPr>
          <p:nvPr/>
        </p:nvSpPr>
        <p:spPr>
          <a:xfrm>
            <a:off x="2524125" y="3114675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62" name="תמונה 61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2971800" y="3267075"/>
            <a:ext cx="723900" cy="723900"/>
          </a:xfrm>
          <a:prstGeom prst="rect">
            <a:avLst/>
          </a:prstGeom>
        </p:spPr>
      </p:pic>
      <p:sp>
        <p:nvSpPr>
          <p:cNvPr id="22" name="מלבן: פינות מעוגלות 21">
            <a:extLst>
              <a:ext uri="{FF2B5EF4-FFF2-40B4-BE49-F238E27FC236}">
                <a16:creationId xmlns:a16="http://schemas.microsoft.com/office/drawing/2014/main" id="{AB639251-14CA-422A-B49F-F6DF2A4EBE14}"/>
              </a:ext>
            </a:extLst>
          </p:cNvPr>
          <p:cNvSpPr>
            <a:spLocks noGrp="1"/>
          </p:cNvSpPr>
          <p:nvPr/>
        </p:nvSpPr>
        <p:spPr>
          <a:xfrm>
            <a:off x="4381500" y="3114675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64" name="תמונה 63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4829175" y="3267075"/>
            <a:ext cx="723900" cy="723900"/>
          </a:xfrm>
          <a:prstGeom prst="rect">
            <a:avLst/>
          </a:prstGeom>
        </p:spPr>
      </p:pic>
      <p:sp>
        <p:nvSpPr>
          <p:cNvPr id="24" name="מלבן: פינות מעוגלות 23">
            <a:extLst>
              <a:ext uri="{FF2B5EF4-FFF2-40B4-BE49-F238E27FC236}">
                <a16:creationId xmlns:a16="http://schemas.microsoft.com/office/drawing/2014/main" id="{542F0FDA-D879-44AD-A8B8-886505A9B74E}"/>
              </a:ext>
            </a:extLst>
          </p:cNvPr>
          <p:cNvSpPr>
            <a:spLocks noGrp="1"/>
          </p:cNvSpPr>
          <p:nvPr/>
        </p:nvSpPr>
        <p:spPr>
          <a:xfrm>
            <a:off x="6238875" y="3114675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66" name="תמונה 65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686550" y="3267075"/>
            <a:ext cx="723900" cy="723900"/>
          </a:xfrm>
          <a:prstGeom prst="rect">
            <a:avLst/>
          </a:prstGeom>
        </p:spPr>
      </p:pic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D3229DED-1D31-426A-957E-46DAB4E10D9C}"/>
              </a:ext>
            </a:extLst>
          </p:cNvPr>
          <p:cNvSpPr>
            <a:spLocks noGrp="1"/>
          </p:cNvSpPr>
          <p:nvPr/>
        </p:nvSpPr>
        <p:spPr>
          <a:xfrm>
            <a:off x="8096250" y="3114675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68" name="תמונה 67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8543925" y="3267075"/>
            <a:ext cx="723900" cy="723900"/>
          </a:xfrm>
          <a:prstGeom prst="rect">
            <a:avLst/>
          </a:prstGeom>
        </p:spPr>
      </p:pic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D604BE1D-A236-4B24-9500-CF3CEF142B80}"/>
              </a:ext>
            </a:extLst>
          </p:cNvPr>
          <p:cNvSpPr>
            <a:spLocks noGrp="1"/>
          </p:cNvSpPr>
          <p:nvPr/>
        </p:nvSpPr>
        <p:spPr>
          <a:xfrm>
            <a:off x="9953625" y="3114675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70" name="תמונה 69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0401300" y="3267075"/>
            <a:ext cx="723900" cy="723900"/>
          </a:xfrm>
          <a:prstGeom prst="rect">
            <a:avLst/>
          </a:prstGeom>
        </p:spPr>
      </p:pic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8E667EA0-67B4-42AA-AF40-83950BFEF2F2}"/>
              </a:ext>
            </a:extLst>
          </p:cNvPr>
          <p:cNvSpPr>
            <a:spLocks noGrp="1"/>
          </p:cNvSpPr>
          <p:nvPr/>
        </p:nvSpPr>
        <p:spPr>
          <a:xfrm>
            <a:off x="666750" y="4419600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72" name="תמונה 71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838200" y="4650317"/>
            <a:ext cx="1276350" cy="567267"/>
          </a:xfrm>
          <a:prstGeom prst="rect">
            <a:avLst/>
          </a:prstGeom>
        </p:spPr>
      </p:pic>
      <p:sp>
        <p:nvSpPr>
          <p:cNvPr id="32" name="מלבן: פינות מעוגלות 31">
            <a:extLst>
              <a:ext uri="{FF2B5EF4-FFF2-40B4-BE49-F238E27FC236}">
                <a16:creationId xmlns:a16="http://schemas.microsoft.com/office/drawing/2014/main" id="{F6D218D1-8D29-4366-BF87-305C52F7513D}"/>
              </a:ext>
            </a:extLst>
          </p:cNvPr>
          <p:cNvSpPr>
            <a:spLocks noGrp="1"/>
          </p:cNvSpPr>
          <p:nvPr/>
        </p:nvSpPr>
        <p:spPr>
          <a:xfrm>
            <a:off x="2524125" y="4419600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74" name="תמונה 73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2695575" y="4650317"/>
            <a:ext cx="1276350" cy="567267"/>
          </a:xfrm>
          <a:prstGeom prst="rect">
            <a:avLst/>
          </a:prstGeom>
        </p:spPr>
      </p:pic>
      <p:sp>
        <p:nvSpPr>
          <p:cNvPr id="34" name="מלבן: פינות מעוגלות 33">
            <a:extLst>
              <a:ext uri="{FF2B5EF4-FFF2-40B4-BE49-F238E27FC236}">
                <a16:creationId xmlns:a16="http://schemas.microsoft.com/office/drawing/2014/main" id="{5462DC26-46D6-4192-A48E-9FDEC55DE69A}"/>
              </a:ext>
            </a:extLst>
          </p:cNvPr>
          <p:cNvSpPr>
            <a:spLocks noGrp="1"/>
          </p:cNvSpPr>
          <p:nvPr/>
        </p:nvSpPr>
        <p:spPr>
          <a:xfrm>
            <a:off x="4381500" y="4419600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76" name="תמונה 75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4680239" y="4572000"/>
            <a:ext cx="1021773" cy="723900"/>
          </a:xfrm>
          <a:prstGeom prst="rect">
            <a:avLst/>
          </a:prstGeom>
        </p:spPr>
      </p:pic>
      <p:sp>
        <p:nvSpPr>
          <p:cNvPr id="36" name="מלבן: פינות מעוגלות 35">
            <a:extLst>
              <a:ext uri="{FF2B5EF4-FFF2-40B4-BE49-F238E27FC236}">
                <a16:creationId xmlns:a16="http://schemas.microsoft.com/office/drawing/2014/main" id="{A1055480-1AC5-4F5A-9489-51DB0C24460C}"/>
              </a:ext>
            </a:extLst>
          </p:cNvPr>
          <p:cNvSpPr>
            <a:spLocks noGrp="1"/>
          </p:cNvSpPr>
          <p:nvPr/>
        </p:nvSpPr>
        <p:spPr>
          <a:xfrm>
            <a:off x="6238875" y="4419600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78" name="תמונה 77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6410325" y="4697825"/>
            <a:ext cx="1276350" cy="472250"/>
          </a:xfrm>
          <a:prstGeom prst="rect">
            <a:avLst/>
          </a:prstGeom>
        </p:spPr>
      </p:pic>
      <p:sp>
        <p:nvSpPr>
          <p:cNvPr id="38" name="מלבן: פינות מעוגלות 37">
            <a:extLst>
              <a:ext uri="{FF2B5EF4-FFF2-40B4-BE49-F238E27FC236}">
                <a16:creationId xmlns:a16="http://schemas.microsoft.com/office/drawing/2014/main" id="{D7B21EE4-8578-4F67-B4DD-1770C27F240F}"/>
              </a:ext>
            </a:extLst>
          </p:cNvPr>
          <p:cNvSpPr>
            <a:spLocks noGrp="1"/>
          </p:cNvSpPr>
          <p:nvPr/>
        </p:nvSpPr>
        <p:spPr>
          <a:xfrm>
            <a:off x="8096250" y="4419600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80" name="תמונה 79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8267700" y="4635824"/>
            <a:ext cx="1276350" cy="596251"/>
          </a:xfrm>
          <a:prstGeom prst="rect">
            <a:avLst/>
          </a:prstGeom>
        </p:spPr>
      </p:pic>
      <p:sp>
        <p:nvSpPr>
          <p:cNvPr id="40" name="מלבן: פינות מעוגלות 39">
            <a:extLst>
              <a:ext uri="{FF2B5EF4-FFF2-40B4-BE49-F238E27FC236}">
                <a16:creationId xmlns:a16="http://schemas.microsoft.com/office/drawing/2014/main" id="{3FB43C8F-537A-4843-9C04-9DB5A80E9D55}"/>
              </a:ext>
            </a:extLst>
          </p:cNvPr>
          <p:cNvSpPr>
            <a:spLocks noGrp="1"/>
          </p:cNvSpPr>
          <p:nvPr/>
        </p:nvSpPr>
        <p:spPr>
          <a:xfrm>
            <a:off x="9953625" y="4419600"/>
            <a:ext cx="16192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F9D9E2"/>
            </a:solidFill>
            <a:prstDash val="solid"/>
          </a:ln>
        </p:spPr>
      </p:sp>
      <p:pic>
        <p:nvPicPr>
          <p:cNvPr id="82" name="תמונה 81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10125075" y="4753795"/>
            <a:ext cx="1276350" cy="3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939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672</Words>
  <Application>Microsoft Office PowerPoint</Application>
  <DocSecurity>0</DocSecurity>
  <PresentationFormat>מסך רחב</PresentationFormat>
  <Paragraphs>100</Paragraphs>
  <Slides>9</Slides>
  <Notes>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1" baseType="lpstr">
      <vt:lpstr>Calibri</vt:lpstr>
      <vt:lpstr>ChatGPT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Dina Lekhovitser</cp:lastModifiedBy>
  <cp:revision>1</cp:revision>
  <dcterms:created xsi:type="dcterms:W3CDTF">2026-08-20T12:08:35Z</dcterms:created>
  <dcterms:modified xsi:type="dcterms:W3CDTF">2026-08-20T12:09:19Z</dcterms:modified>
</cp:coreProperties>
</file>